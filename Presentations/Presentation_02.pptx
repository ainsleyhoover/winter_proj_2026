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Montserrat" panose="00000500000000000000" pitchFamily="2" charset="0"/>
      <p:regular r:id="rId16"/>
    </p:embeddedFont>
    <p:embeddedFont>
      <p:font typeface="Poppins" panose="00000500000000000000" pitchFamily="2" charset="0"/>
      <p:regular r:id="rId17"/>
    </p:embeddedFont>
    <p:embeddedFont>
      <p:font typeface="Poppins Bold" panose="020B0604020202020204" charset="0"/>
      <p:regular r:id="rId18"/>
    </p:embeddedFont>
    <p:embeddedFont>
      <p:font typeface="Ubuntu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7D51D-37E3-4150-A8DD-69761EFD6B63}" v="1" dt="2026-01-09T16:09:53.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nsley Hoover" userId="62bd7c5045563ac4" providerId="LiveId" clId="{39EE4B4A-33DE-4602-93BB-F0FA125DC0BE}"/>
    <pc:docChg chg="custSel modSld">
      <pc:chgData name="Ainsley Hoover" userId="62bd7c5045563ac4" providerId="LiveId" clId="{39EE4B4A-33DE-4602-93BB-F0FA125DC0BE}" dt="2026-01-09T16:10:32.923" v="142" actId="478"/>
      <pc:docMkLst>
        <pc:docMk/>
      </pc:docMkLst>
      <pc:sldChg chg="addSp delSp modSp mod">
        <pc:chgData name="Ainsley Hoover" userId="62bd7c5045563ac4" providerId="LiveId" clId="{39EE4B4A-33DE-4602-93BB-F0FA125DC0BE}" dt="2026-01-09T16:10:32.923" v="142" actId="478"/>
        <pc:sldMkLst>
          <pc:docMk/>
          <pc:sldMk cId="0" sldId="256"/>
        </pc:sldMkLst>
        <pc:spChg chg="del mod topLvl">
          <ac:chgData name="Ainsley Hoover" userId="62bd7c5045563ac4" providerId="LiveId" clId="{39EE4B4A-33DE-4602-93BB-F0FA125DC0BE}" dt="2026-01-09T16:10:32.923" v="142" actId="478"/>
          <ac:spMkLst>
            <pc:docMk/>
            <pc:sldMk cId="0" sldId="256"/>
            <ac:spMk id="8" creationId="{00000000-0000-0000-0000-000000000000}"/>
          </ac:spMkLst>
        </pc:spChg>
        <pc:spChg chg="mod topLvl">
          <ac:chgData name="Ainsley Hoover" userId="62bd7c5045563ac4" providerId="LiveId" clId="{39EE4B4A-33DE-4602-93BB-F0FA125DC0BE}" dt="2026-01-09T16:10:32.923" v="142" actId="478"/>
          <ac:spMkLst>
            <pc:docMk/>
            <pc:sldMk cId="0" sldId="256"/>
            <ac:spMk id="9" creationId="{00000000-0000-0000-0000-000000000000}"/>
          </ac:spMkLst>
        </pc:spChg>
        <pc:spChg chg="add mod">
          <ac:chgData name="Ainsley Hoover" userId="62bd7c5045563ac4" providerId="LiveId" clId="{39EE4B4A-33DE-4602-93BB-F0FA125DC0BE}" dt="2026-01-09T16:09:53.981" v="100"/>
          <ac:spMkLst>
            <pc:docMk/>
            <pc:sldMk cId="0" sldId="256"/>
            <ac:spMk id="19" creationId="{3CB10DB3-0C9E-004B-23A9-F191D8CDE340}"/>
          </ac:spMkLst>
        </pc:spChg>
        <pc:grpChg chg="del mod">
          <ac:chgData name="Ainsley Hoover" userId="62bd7c5045563ac4" providerId="LiveId" clId="{39EE4B4A-33DE-4602-93BB-F0FA125DC0BE}" dt="2026-01-09T16:10:32.923" v="142" actId="478"/>
          <ac:grpSpMkLst>
            <pc:docMk/>
            <pc:sldMk cId="0" sldId="256"/>
            <ac:grpSpMk id="7" creationId="{00000000-0000-0000-0000-000000000000}"/>
          </ac:grpSpMkLst>
        </pc:grpChg>
      </pc:sldChg>
      <pc:sldChg chg="modSp mod">
        <pc:chgData name="Ainsley Hoover" userId="62bd7c5045563ac4" providerId="LiveId" clId="{39EE4B4A-33DE-4602-93BB-F0FA125DC0BE}" dt="2026-01-09T16:04:59.152" v="99" actId="1076"/>
        <pc:sldMkLst>
          <pc:docMk/>
          <pc:sldMk cId="0" sldId="262"/>
        </pc:sldMkLst>
        <pc:spChg chg="mod">
          <ac:chgData name="Ainsley Hoover" userId="62bd7c5045563ac4" providerId="LiveId" clId="{39EE4B4A-33DE-4602-93BB-F0FA125DC0BE}" dt="2026-01-09T16:04:29.565" v="94" actId="14100"/>
          <ac:spMkLst>
            <pc:docMk/>
            <pc:sldMk cId="0" sldId="262"/>
            <ac:spMk id="41" creationId="{00000000-0000-0000-0000-000000000000}"/>
          </ac:spMkLst>
        </pc:spChg>
        <pc:spChg chg="mod">
          <ac:chgData name="Ainsley Hoover" userId="62bd7c5045563ac4" providerId="LiveId" clId="{39EE4B4A-33DE-4602-93BB-F0FA125DC0BE}" dt="2026-01-09T16:04:20.999" v="93" actId="1076"/>
          <ac:spMkLst>
            <pc:docMk/>
            <pc:sldMk cId="0" sldId="262"/>
            <ac:spMk id="42" creationId="{00000000-0000-0000-0000-000000000000}"/>
          </ac:spMkLst>
        </pc:spChg>
        <pc:spChg chg="mod">
          <ac:chgData name="Ainsley Hoover" userId="62bd7c5045563ac4" providerId="LiveId" clId="{39EE4B4A-33DE-4602-93BB-F0FA125DC0BE}" dt="2026-01-09T16:04:53.115" v="98" actId="14100"/>
          <ac:spMkLst>
            <pc:docMk/>
            <pc:sldMk cId="0" sldId="262"/>
            <ac:spMk id="44" creationId="{00000000-0000-0000-0000-000000000000}"/>
          </ac:spMkLst>
        </pc:spChg>
        <pc:spChg chg="mod">
          <ac:chgData name="Ainsley Hoover" userId="62bd7c5045563ac4" providerId="LiveId" clId="{39EE4B4A-33DE-4602-93BB-F0FA125DC0BE}" dt="2026-01-09T16:04:59.152" v="99" actId="1076"/>
          <ac:spMkLst>
            <pc:docMk/>
            <pc:sldMk cId="0" sldId="262"/>
            <ac:spMk id="45" creationId="{00000000-0000-0000-0000-000000000000}"/>
          </ac:spMkLst>
        </pc:spChg>
        <pc:grpChg chg="mod">
          <ac:chgData name="Ainsley Hoover" userId="62bd7c5045563ac4" providerId="LiveId" clId="{39EE4B4A-33DE-4602-93BB-F0FA125DC0BE}" dt="2026-01-09T16:03:38.254" v="4" actId="14100"/>
          <ac:grpSpMkLst>
            <pc:docMk/>
            <pc:sldMk cId="0" sldId="262"/>
            <ac:grpSpMk id="40" creationId="{00000000-0000-0000-0000-000000000000}"/>
          </ac:grpSpMkLst>
        </pc:grpChg>
        <pc:grpChg chg="mod">
          <ac:chgData name="Ainsley Hoover" userId="62bd7c5045563ac4" providerId="LiveId" clId="{39EE4B4A-33DE-4602-93BB-F0FA125DC0BE}" dt="2026-01-09T16:04:43.296" v="96" actId="14100"/>
          <ac:grpSpMkLst>
            <pc:docMk/>
            <pc:sldMk cId="0" sldId="262"/>
            <ac:grpSpMk id="43"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sp>
        <p:nvSpPr>
          <p:cNvPr id="6" name="Freeform 6"/>
          <p:cNvSpPr/>
          <p:nvPr/>
        </p:nvSpPr>
        <p:spPr>
          <a:xfrm>
            <a:off x="14288" y="14288"/>
            <a:ext cx="18241575" cy="10242137"/>
          </a:xfrm>
          <a:custGeom>
            <a:avLst/>
            <a:gdLst/>
            <a:ahLst/>
            <a:cxnLst/>
            <a:rect l="l" t="t" r="r" b="b"/>
            <a:pathLst>
              <a:path w="18241575" h="10242137">
                <a:moveTo>
                  <a:pt x="0" y="0"/>
                </a:moveTo>
                <a:lnTo>
                  <a:pt x="18241575" y="0"/>
                </a:lnTo>
                <a:lnTo>
                  <a:pt x="18241575" y="10242137"/>
                </a:lnTo>
                <a:lnTo>
                  <a:pt x="0" y="10242137"/>
                </a:lnTo>
                <a:lnTo>
                  <a:pt x="0" y="0"/>
                </a:lnTo>
                <a:close/>
              </a:path>
            </a:pathLst>
          </a:custGeom>
          <a:blipFill>
            <a:blip r:embed="rId3"/>
            <a:stretch>
              <a:fillRect t="-1020" r="-1854" b="-1020"/>
            </a:stretch>
          </a:blipFill>
        </p:spPr>
        <p:txBody>
          <a:bodyPr/>
          <a:lstStyle/>
          <a:p>
            <a:endParaRPr lang="en-US" dirty="0"/>
          </a:p>
        </p:txBody>
      </p:sp>
      <p:sp>
        <p:nvSpPr>
          <p:cNvPr id="9" name="TextBox 9"/>
          <p:cNvSpPr txBox="1"/>
          <p:nvPr/>
        </p:nvSpPr>
        <p:spPr>
          <a:xfrm>
            <a:off x="958433" y="7516516"/>
            <a:ext cx="9940030" cy="2521247"/>
          </a:xfrm>
          <a:prstGeom prst="rect">
            <a:avLst/>
          </a:prstGeom>
        </p:spPr>
        <p:txBody>
          <a:bodyPr lIns="0" tIns="0" rIns="0" bIns="0" rtlCol="0" anchor="ctr"/>
          <a:lstStyle/>
          <a:p>
            <a:pPr algn="l">
              <a:lnSpc>
                <a:spcPts val="6227"/>
              </a:lnSpc>
            </a:pPr>
            <a:r>
              <a:rPr lang="en-US" sz="3000" dirty="0">
                <a:solidFill>
                  <a:srgbClr val="FFFFFF"/>
                </a:solidFill>
                <a:latin typeface="Montserrat"/>
                <a:ea typeface="Montserrat"/>
                <a:cs typeface="Montserrat"/>
                <a:sym typeface="Montserrat"/>
              </a:rPr>
              <a:t>By: Samari, Matthew, and Ainsley</a:t>
            </a:r>
          </a:p>
        </p:txBody>
      </p:sp>
      <p:grpSp>
        <p:nvGrpSpPr>
          <p:cNvPr id="10" name="Group 10"/>
          <p:cNvGrpSpPr/>
          <p:nvPr/>
        </p:nvGrpSpPr>
        <p:grpSpPr>
          <a:xfrm>
            <a:off x="985647" y="5556752"/>
            <a:ext cx="8142284" cy="842801"/>
            <a:chOff x="0" y="0"/>
            <a:chExt cx="10856379" cy="1123734"/>
          </a:xfrm>
        </p:grpSpPr>
        <p:sp>
          <p:nvSpPr>
            <p:cNvPr id="11" name="Freeform 11"/>
            <p:cNvSpPr/>
            <p:nvPr/>
          </p:nvSpPr>
          <p:spPr>
            <a:xfrm>
              <a:off x="0" y="0"/>
              <a:ext cx="10856380" cy="1123731"/>
            </a:xfrm>
            <a:custGeom>
              <a:avLst/>
              <a:gdLst/>
              <a:ahLst/>
              <a:cxnLst/>
              <a:rect l="l" t="t" r="r" b="b"/>
              <a:pathLst>
                <a:path w="10856380" h="1123731">
                  <a:moveTo>
                    <a:pt x="0" y="0"/>
                  </a:moveTo>
                  <a:lnTo>
                    <a:pt x="10856380" y="0"/>
                  </a:lnTo>
                  <a:lnTo>
                    <a:pt x="10856380"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12" name="TextBox 12"/>
            <p:cNvSpPr txBox="1"/>
            <p:nvPr/>
          </p:nvSpPr>
          <p:spPr>
            <a:xfrm>
              <a:off x="0" y="-142875"/>
              <a:ext cx="10856379"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Testing conventional wisdom about age, income, and gender as predictors of partisanship in New York State</a:t>
              </a:r>
            </a:p>
          </p:txBody>
        </p:sp>
      </p:grpSp>
      <p:grpSp>
        <p:nvGrpSpPr>
          <p:cNvPr id="13" name="Group 13"/>
          <p:cNvGrpSpPr/>
          <p:nvPr/>
        </p:nvGrpSpPr>
        <p:grpSpPr>
          <a:xfrm>
            <a:off x="985647" y="6713811"/>
            <a:ext cx="8142284" cy="528533"/>
            <a:chOff x="0" y="0"/>
            <a:chExt cx="10856379" cy="704710"/>
          </a:xfrm>
        </p:grpSpPr>
        <p:sp>
          <p:nvSpPr>
            <p:cNvPr id="14" name="Freeform 14"/>
            <p:cNvSpPr/>
            <p:nvPr/>
          </p:nvSpPr>
          <p:spPr>
            <a:xfrm>
              <a:off x="0" y="0"/>
              <a:ext cx="10856380" cy="704712"/>
            </a:xfrm>
            <a:custGeom>
              <a:avLst/>
              <a:gdLst/>
              <a:ahLst/>
              <a:cxnLst/>
              <a:rect l="l" t="t" r="r" b="b"/>
              <a:pathLst>
                <a:path w="10856380" h="704712">
                  <a:moveTo>
                    <a:pt x="0" y="0"/>
                  </a:moveTo>
                  <a:lnTo>
                    <a:pt x="10856380" y="0"/>
                  </a:lnTo>
                  <a:lnTo>
                    <a:pt x="10856380" y="704712"/>
                  </a:lnTo>
                  <a:lnTo>
                    <a:pt x="0" y="704712"/>
                  </a:lnTo>
                  <a:close/>
                </a:path>
              </a:pathLst>
            </a:custGeom>
            <a:solidFill>
              <a:srgbClr val="000000">
                <a:alpha val="0"/>
              </a:srgbClr>
            </a:solidFill>
            <a:ln w="12700">
              <a:solidFill>
                <a:srgbClr val="000000"/>
              </a:solidFill>
            </a:ln>
          </p:spPr>
          <p:txBody>
            <a:bodyPr/>
            <a:lstStyle/>
            <a:p>
              <a:endParaRPr lang="en-US"/>
            </a:p>
          </p:txBody>
        </p:sp>
        <p:sp>
          <p:nvSpPr>
            <p:cNvPr id="15" name="TextBox 15"/>
            <p:cNvSpPr txBox="1"/>
            <p:nvPr/>
          </p:nvSpPr>
          <p:spPr>
            <a:xfrm>
              <a:off x="0" y="-180975"/>
              <a:ext cx="10856379" cy="885685"/>
            </a:xfrm>
            <a:prstGeom prst="rect">
              <a:avLst/>
            </a:prstGeom>
          </p:spPr>
          <p:txBody>
            <a:bodyPr lIns="0" tIns="0" rIns="0" bIns="0" rtlCol="0" anchor="ctr"/>
            <a:lstStyle/>
            <a:p>
              <a:pPr algn="l">
                <a:lnSpc>
                  <a:spcPts val="4859"/>
                </a:lnSpc>
              </a:pPr>
              <a:r>
                <a:rPr lang="en-US" sz="2699" b="1">
                  <a:solidFill>
                    <a:srgbClr val="000000"/>
                  </a:solidFill>
                  <a:latin typeface="Poppins Bold"/>
                  <a:ea typeface="Poppins Bold"/>
                  <a:cs typeface="Poppins Bold"/>
                  <a:sym typeface="Poppins Bold"/>
                </a:rPr>
                <a:t>2021 New York Voter File Analysis</a:t>
              </a:r>
            </a:p>
          </p:txBody>
        </p:sp>
      </p:grpSp>
      <p:grpSp>
        <p:nvGrpSpPr>
          <p:cNvPr id="16" name="Group 16"/>
          <p:cNvGrpSpPr/>
          <p:nvPr/>
        </p:nvGrpSpPr>
        <p:grpSpPr>
          <a:xfrm>
            <a:off x="985647" y="7566193"/>
            <a:ext cx="8142284" cy="328546"/>
            <a:chOff x="0" y="0"/>
            <a:chExt cx="10856379" cy="438061"/>
          </a:xfrm>
        </p:grpSpPr>
        <p:sp>
          <p:nvSpPr>
            <p:cNvPr id="17" name="Freeform 17"/>
            <p:cNvSpPr/>
            <p:nvPr/>
          </p:nvSpPr>
          <p:spPr>
            <a:xfrm>
              <a:off x="0" y="0"/>
              <a:ext cx="10856380" cy="438064"/>
            </a:xfrm>
            <a:custGeom>
              <a:avLst/>
              <a:gdLst/>
              <a:ahLst/>
              <a:cxnLst/>
              <a:rect l="l" t="t" r="r" b="b"/>
              <a:pathLst>
                <a:path w="10856380" h="438064">
                  <a:moveTo>
                    <a:pt x="0" y="0"/>
                  </a:moveTo>
                  <a:lnTo>
                    <a:pt x="10856380" y="0"/>
                  </a:lnTo>
                  <a:lnTo>
                    <a:pt x="10856380" y="438064"/>
                  </a:lnTo>
                  <a:lnTo>
                    <a:pt x="0" y="438064"/>
                  </a:lnTo>
                  <a:close/>
                </a:path>
              </a:pathLst>
            </a:custGeom>
            <a:solidFill>
              <a:srgbClr val="000000">
                <a:alpha val="0"/>
              </a:srgbClr>
            </a:solidFill>
            <a:ln w="12700">
              <a:solidFill>
                <a:srgbClr val="000000"/>
              </a:solidFill>
            </a:ln>
          </p:spPr>
          <p:txBody>
            <a:bodyPr/>
            <a:lstStyle/>
            <a:p>
              <a:endParaRPr lang="en-US"/>
            </a:p>
          </p:txBody>
        </p:sp>
        <p:sp>
          <p:nvSpPr>
            <p:cNvPr id="18" name="TextBox 18"/>
            <p:cNvSpPr txBox="1"/>
            <p:nvPr/>
          </p:nvSpPr>
          <p:spPr>
            <a:xfrm>
              <a:off x="0" y="-123825"/>
              <a:ext cx="10856379" cy="561886"/>
            </a:xfrm>
            <a:prstGeom prst="rect">
              <a:avLst/>
            </a:prstGeom>
          </p:spPr>
          <p:txBody>
            <a:bodyPr lIns="0" tIns="0" rIns="0" bIns="0" rtlCol="0" anchor="ctr"/>
            <a:lstStyle/>
            <a:p>
              <a:pPr algn="l">
                <a:lnSpc>
                  <a:spcPts val="3036"/>
                </a:lnSpc>
              </a:pPr>
              <a:r>
                <a:rPr lang="en-US" sz="1687" b="1" dirty="0">
                  <a:solidFill>
                    <a:srgbClr val="000000"/>
                  </a:solidFill>
                  <a:latin typeface="Poppins Bold"/>
                  <a:ea typeface="Poppins Bold"/>
                  <a:cs typeface="Poppins Bold"/>
                  <a:sym typeface="Poppins Bold"/>
                </a:rPr>
                <a:t>n ≈ 84,000 registered voters | 1% representative sample</a:t>
              </a:r>
            </a:p>
          </p:txBody>
        </p:sp>
      </p:grpSp>
      <p:sp>
        <p:nvSpPr>
          <p:cNvPr id="19" name="TextBox 9">
            <a:extLst>
              <a:ext uri="{FF2B5EF4-FFF2-40B4-BE49-F238E27FC236}">
                <a16:creationId xmlns:a16="http://schemas.microsoft.com/office/drawing/2014/main" id="{3CB10DB3-0C9E-004B-23A9-F191D8CDE340}"/>
              </a:ext>
            </a:extLst>
          </p:cNvPr>
          <p:cNvSpPr txBox="1"/>
          <p:nvPr/>
        </p:nvSpPr>
        <p:spPr>
          <a:xfrm>
            <a:off x="1138047" y="2931019"/>
            <a:ext cx="9940030" cy="2521247"/>
          </a:xfrm>
          <a:prstGeom prst="rect">
            <a:avLst/>
          </a:prstGeom>
        </p:spPr>
        <p:txBody>
          <a:bodyPr lIns="0" tIns="0" rIns="0" bIns="0" rtlCol="0" anchor="ctr"/>
          <a:lstStyle/>
          <a:p>
            <a:pPr algn="l">
              <a:lnSpc>
                <a:spcPts val="6227"/>
              </a:lnSpc>
            </a:pPr>
            <a:r>
              <a:rPr lang="en-US" sz="5511" dirty="0">
                <a:solidFill>
                  <a:srgbClr val="FFFFFF"/>
                </a:solidFill>
                <a:latin typeface="Montserrat"/>
                <a:ea typeface="Montserrat"/>
                <a:cs typeface="Montserrat"/>
                <a:sym typeface="Montserrat"/>
              </a:rPr>
              <a:t>Predicting Party Affiliation from Demographics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5542464"/>
            <a:ext cx="5242493" cy="2199846"/>
            <a:chOff x="0" y="0"/>
            <a:chExt cx="6989991" cy="2933128"/>
          </a:xfrm>
        </p:grpSpPr>
        <p:sp>
          <p:nvSpPr>
            <p:cNvPr id="7" name="Freeform 7"/>
            <p:cNvSpPr/>
            <p:nvPr/>
          </p:nvSpPr>
          <p:spPr>
            <a:xfrm>
              <a:off x="0" y="0"/>
              <a:ext cx="6989953" cy="2933065"/>
            </a:xfrm>
            <a:custGeom>
              <a:avLst/>
              <a:gdLst/>
              <a:ahLst/>
              <a:cxnLst/>
              <a:rect l="l" t="t" r="r" b="b"/>
              <a:pathLst>
                <a:path w="6989953" h="2933065">
                  <a:moveTo>
                    <a:pt x="0" y="0"/>
                  </a:moveTo>
                  <a:lnTo>
                    <a:pt x="6989953" y="0"/>
                  </a:lnTo>
                  <a:lnTo>
                    <a:pt x="6989953" y="2933065"/>
                  </a:lnTo>
                  <a:lnTo>
                    <a:pt x="0" y="2933065"/>
                  </a:lnTo>
                  <a:close/>
                </a:path>
              </a:pathLst>
            </a:custGeom>
            <a:solidFill>
              <a:srgbClr val="D6ADAD">
                <a:alpha val="22745"/>
              </a:srgbClr>
            </a:solidFill>
            <a:ln w="12700">
              <a:solidFill>
                <a:srgbClr val="000000"/>
              </a:solidFill>
            </a:ln>
          </p:spPr>
          <p:txBody>
            <a:bodyPr/>
            <a:lstStyle/>
            <a:p>
              <a:endParaRPr lang="en-US"/>
            </a:p>
          </p:txBody>
        </p:sp>
      </p:grpSp>
      <p:grpSp>
        <p:nvGrpSpPr>
          <p:cNvPr id="8" name="Group 8"/>
          <p:cNvGrpSpPr/>
          <p:nvPr/>
        </p:nvGrpSpPr>
        <p:grpSpPr>
          <a:xfrm>
            <a:off x="3185493" y="5828157"/>
            <a:ext cx="842801" cy="842801"/>
            <a:chOff x="0" y="0"/>
            <a:chExt cx="1123734" cy="1123734"/>
          </a:xfrm>
        </p:grpSpPr>
        <p:sp>
          <p:nvSpPr>
            <p:cNvPr id="9" name="Freeform 9"/>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0" name="Group 10"/>
          <p:cNvGrpSpPr/>
          <p:nvPr/>
        </p:nvGrpSpPr>
        <p:grpSpPr>
          <a:xfrm>
            <a:off x="6513824" y="5542464"/>
            <a:ext cx="5242493" cy="2199846"/>
            <a:chOff x="0" y="0"/>
            <a:chExt cx="6989991" cy="2933128"/>
          </a:xfrm>
        </p:grpSpPr>
        <p:sp>
          <p:nvSpPr>
            <p:cNvPr id="11" name="Freeform 11"/>
            <p:cNvSpPr/>
            <p:nvPr/>
          </p:nvSpPr>
          <p:spPr>
            <a:xfrm>
              <a:off x="0" y="0"/>
              <a:ext cx="6989953" cy="2933065"/>
            </a:xfrm>
            <a:custGeom>
              <a:avLst/>
              <a:gdLst/>
              <a:ahLst/>
              <a:cxnLst/>
              <a:rect l="l" t="t" r="r" b="b"/>
              <a:pathLst>
                <a:path w="6989953" h="2933065">
                  <a:moveTo>
                    <a:pt x="0" y="0"/>
                  </a:moveTo>
                  <a:lnTo>
                    <a:pt x="6989953" y="0"/>
                  </a:lnTo>
                  <a:lnTo>
                    <a:pt x="6989953" y="2933065"/>
                  </a:lnTo>
                  <a:lnTo>
                    <a:pt x="0" y="2933065"/>
                  </a:lnTo>
                  <a:close/>
                </a:path>
              </a:pathLst>
            </a:custGeom>
            <a:solidFill>
              <a:srgbClr val="D6ADAD">
                <a:alpha val="22745"/>
              </a:srgbClr>
            </a:solidFill>
            <a:ln w="12700">
              <a:solidFill>
                <a:srgbClr val="000000"/>
              </a:solidFill>
            </a:ln>
          </p:spPr>
          <p:txBody>
            <a:bodyPr/>
            <a:lstStyle/>
            <a:p>
              <a:endParaRPr lang="en-US"/>
            </a:p>
          </p:txBody>
        </p:sp>
      </p:grpSp>
      <p:grpSp>
        <p:nvGrpSpPr>
          <p:cNvPr id="12" name="Group 12"/>
          <p:cNvGrpSpPr/>
          <p:nvPr/>
        </p:nvGrpSpPr>
        <p:grpSpPr>
          <a:xfrm>
            <a:off x="8713670" y="5828157"/>
            <a:ext cx="842801" cy="842801"/>
            <a:chOff x="0" y="0"/>
            <a:chExt cx="1123734" cy="1123734"/>
          </a:xfrm>
        </p:grpSpPr>
        <p:sp>
          <p:nvSpPr>
            <p:cNvPr id="13" name="Freeform 13"/>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4" name="Group 14"/>
          <p:cNvGrpSpPr/>
          <p:nvPr/>
        </p:nvGrpSpPr>
        <p:grpSpPr>
          <a:xfrm>
            <a:off x="12042010" y="5542464"/>
            <a:ext cx="5242493" cy="2199846"/>
            <a:chOff x="0" y="0"/>
            <a:chExt cx="6989991" cy="2933128"/>
          </a:xfrm>
        </p:grpSpPr>
        <p:sp>
          <p:nvSpPr>
            <p:cNvPr id="15" name="Freeform 15"/>
            <p:cNvSpPr/>
            <p:nvPr/>
          </p:nvSpPr>
          <p:spPr>
            <a:xfrm>
              <a:off x="0" y="0"/>
              <a:ext cx="6989953" cy="2933065"/>
            </a:xfrm>
            <a:custGeom>
              <a:avLst/>
              <a:gdLst/>
              <a:ahLst/>
              <a:cxnLst/>
              <a:rect l="l" t="t" r="r" b="b"/>
              <a:pathLst>
                <a:path w="6989953" h="2933065">
                  <a:moveTo>
                    <a:pt x="0" y="0"/>
                  </a:moveTo>
                  <a:lnTo>
                    <a:pt x="6989953" y="0"/>
                  </a:lnTo>
                  <a:lnTo>
                    <a:pt x="6989953" y="2933065"/>
                  </a:lnTo>
                  <a:lnTo>
                    <a:pt x="0" y="2933065"/>
                  </a:lnTo>
                  <a:close/>
                </a:path>
              </a:pathLst>
            </a:custGeom>
            <a:solidFill>
              <a:srgbClr val="D6ADAD">
                <a:alpha val="22745"/>
              </a:srgbClr>
            </a:solidFill>
            <a:ln w="12700">
              <a:solidFill>
                <a:srgbClr val="000000"/>
              </a:solidFill>
            </a:ln>
          </p:spPr>
          <p:txBody>
            <a:bodyPr/>
            <a:lstStyle/>
            <a:p>
              <a:endParaRPr lang="en-US"/>
            </a:p>
          </p:txBody>
        </p:sp>
      </p:grpSp>
      <p:grpSp>
        <p:nvGrpSpPr>
          <p:cNvPr id="16" name="Group 16"/>
          <p:cNvGrpSpPr/>
          <p:nvPr/>
        </p:nvGrpSpPr>
        <p:grpSpPr>
          <a:xfrm>
            <a:off x="14241856" y="5828157"/>
            <a:ext cx="842801" cy="842801"/>
            <a:chOff x="0" y="0"/>
            <a:chExt cx="1123734" cy="1123734"/>
          </a:xfrm>
        </p:grpSpPr>
        <p:sp>
          <p:nvSpPr>
            <p:cNvPr id="17" name="Freeform 17"/>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8" name="Group 18"/>
          <p:cNvGrpSpPr/>
          <p:nvPr/>
        </p:nvGrpSpPr>
        <p:grpSpPr>
          <a:xfrm>
            <a:off x="985647" y="2514105"/>
            <a:ext cx="16298856" cy="671379"/>
            <a:chOff x="0" y="0"/>
            <a:chExt cx="21731808" cy="895172"/>
          </a:xfrm>
        </p:grpSpPr>
        <p:sp>
          <p:nvSpPr>
            <p:cNvPr id="19" name="Freeform 19"/>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5D8AA8"/>
                  </a:solidFill>
                  <a:latin typeface="Ubuntu Bold"/>
                  <a:ea typeface="Ubuntu Bold"/>
                  <a:cs typeface="Ubuntu Bold"/>
                  <a:sym typeface="Ubuntu Bold"/>
                </a:rPr>
                <a:t>What Conventional Wisdom Says</a:t>
              </a:r>
            </a:p>
          </p:txBody>
        </p:sp>
      </p:grpSp>
      <p:grpSp>
        <p:nvGrpSpPr>
          <p:cNvPr id="21" name="Group 21"/>
          <p:cNvGrpSpPr/>
          <p:nvPr/>
        </p:nvGrpSpPr>
        <p:grpSpPr>
          <a:xfrm>
            <a:off x="3199771" y="6956650"/>
            <a:ext cx="799948" cy="499967"/>
            <a:chOff x="0" y="0"/>
            <a:chExt cx="1066597" cy="666623"/>
          </a:xfrm>
        </p:grpSpPr>
        <p:sp>
          <p:nvSpPr>
            <p:cNvPr id="22" name="Freeform 22"/>
            <p:cNvSpPr/>
            <p:nvPr/>
          </p:nvSpPr>
          <p:spPr>
            <a:xfrm>
              <a:off x="0" y="0"/>
              <a:ext cx="1066592" cy="666620"/>
            </a:xfrm>
            <a:custGeom>
              <a:avLst/>
              <a:gdLst/>
              <a:ahLst/>
              <a:cxnLst/>
              <a:rect l="l" t="t" r="r" b="b"/>
              <a:pathLst>
                <a:path w="1066592" h="666620">
                  <a:moveTo>
                    <a:pt x="0" y="0"/>
                  </a:moveTo>
                  <a:lnTo>
                    <a:pt x="1066592" y="0"/>
                  </a:lnTo>
                  <a:lnTo>
                    <a:pt x="1066592"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3" name="TextBox 23"/>
            <p:cNvSpPr txBox="1"/>
            <p:nvPr/>
          </p:nvSpPr>
          <p:spPr>
            <a:xfrm>
              <a:off x="0" y="-85725"/>
              <a:ext cx="1066597" cy="752348"/>
            </a:xfrm>
            <a:prstGeom prst="rect">
              <a:avLst/>
            </a:prstGeom>
          </p:spPr>
          <p:txBody>
            <a:bodyPr lIns="0" tIns="0" rIns="0" bIns="0" rtlCol="0" anchor="ctr"/>
            <a:lstStyle/>
            <a:p>
              <a:pPr algn="ctr">
                <a:lnSpc>
                  <a:spcPts val="4697"/>
                </a:lnSpc>
              </a:pPr>
              <a:r>
                <a:rPr lang="en-US" sz="3261" b="1">
                  <a:solidFill>
                    <a:srgbClr val="5D8AA8"/>
                  </a:solidFill>
                  <a:latin typeface="Ubuntu Bold"/>
                  <a:ea typeface="Ubuntu Bold"/>
                  <a:cs typeface="Ubuntu Bold"/>
                  <a:sym typeface="Ubuntu Bold"/>
                </a:rPr>
                <a:t>Age</a:t>
              </a:r>
            </a:p>
          </p:txBody>
        </p:sp>
      </p:grpSp>
      <p:grpSp>
        <p:nvGrpSpPr>
          <p:cNvPr id="24" name="Group 24"/>
          <p:cNvGrpSpPr/>
          <p:nvPr/>
        </p:nvGrpSpPr>
        <p:grpSpPr>
          <a:xfrm>
            <a:off x="8399412" y="6956650"/>
            <a:ext cx="1457039" cy="499967"/>
            <a:chOff x="0" y="0"/>
            <a:chExt cx="1942719" cy="666623"/>
          </a:xfrm>
        </p:grpSpPr>
        <p:sp>
          <p:nvSpPr>
            <p:cNvPr id="25" name="Freeform 25"/>
            <p:cNvSpPr/>
            <p:nvPr/>
          </p:nvSpPr>
          <p:spPr>
            <a:xfrm>
              <a:off x="0" y="0"/>
              <a:ext cx="1942721" cy="666620"/>
            </a:xfrm>
            <a:custGeom>
              <a:avLst/>
              <a:gdLst/>
              <a:ahLst/>
              <a:cxnLst/>
              <a:rect l="l" t="t" r="r" b="b"/>
              <a:pathLst>
                <a:path w="1942721" h="666620">
                  <a:moveTo>
                    <a:pt x="0" y="0"/>
                  </a:moveTo>
                  <a:lnTo>
                    <a:pt x="1942721" y="0"/>
                  </a:lnTo>
                  <a:lnTo>
                    <a:pt x="1942721"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6" name="TextBox 26"/>
            <p:cNvSpPr txBox="1"/>
            <p:nvPr/>
          </p:nvSpPr>
          <p:spPr>
            <a:xfrm>
              <a:off x="0" y="-85725"/>
              <a:ext cx="1942719" cy="752348"/>
            </a:xfrm>
            <a:prstGeom prst="rect">
              <a:avLst/>
            </a:prstGeom>
          </p:spPr>
          <p:txBody>
            <a:bodyPr lIns="0" tIns="0" rIns="0" bIns="0" rtlCol="0" anchor="ctr"/>
            <a:lstStyle/>
            <a:p>
              <a:pPr algn="ctr">
                <a:lnSpc>
                  <a:spcPts val="4697"/>
                </a:lnSpc>
              </a:pPr>
              <a:r>
                <a:rPr lang="en-US" sz="3261" b="1">
                  <a:solidFill>
                    <a:srgbClr val="5D8AA8"/>
                  </a:solidFill>
                  <a:latin typeface="Ubuntu Bold"/>
                  <a:ea typeface="Ubuntu Bold"/>
                  <a:cs typeface="Ubuntu Bold"/>
                  <a:sym typeface="Ubuntu Bold"/>
                </a:rPr>
                <a:t>Income</a:t>
              </a:r>
            </a:p>
          </p:txBody>
        </p:sp>
      </p:grpSp>
      <p:grpSp>
        <p:nvGrpSpPr>
          <p:cNvPr id="27" name="Group 27"/>
          <p:cNvGrpSpPr/>
          <p:nvPr/>
        </p:nvGrpSpPr>
        <p:grpSpPr>
          <a:xfrm>
            <a:off x="13927588" y="6956650"/>
            <a:ext cx="1471327" cy="499967"/>
            <a:chOff x="0" y="0"/>
            <a:chExt cx="1961769" cy="666623"/>
          </a:xfrm>
        </p:grpSpPr>
        <p:sp>
          <p:nvSpPr>
            <p:cNvPr id="28" name="Freeform 28"/>
            <p:cNvSpPr/>
            <p:nvPr/>
          </p:nvSpPr>
          <p:spPr>
            <a:xfrm>
              <a:off x="0" y="0"/>
              <a:ext cx="1961767" cy="666620"/>
            </a:xfrm>
            <a:custGeom>
              <a:avLst/>
              <a:gdLst/>
              <a:ahLst/>
              <a:cxnLst/>
              <a:rect l="l" t="t" r="r" b="b"/>
              <a:pathLst>
                <a:path w="1961767" h="666620">
                  <a:moveTo>
                    <a:pt x="0" y="0"/>
                  </a:moveTo>
                  <a:lnTo>
                    <a:pt x="1961767" y="0"/>
                  </a:lnTo>
                  <a:lnTo>
                    <a:pt x="1961767"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9" name="TextBox 29"/>
            <p:cNvSpPr txBox="1"/>
            <p:nvPr/>
          </p:nvSpPr>
          <p:spPr>
            <a:xfrm>
              <a:off x="0" y="-85725"/>
              <a:ext cx="1961769" cy="752348"/>
            </a:xfrm>
            <a:prstGeom prst="rect">
              <a:avLst/>
            </a:prstGeom>
          </p:spPr>
          <p:txBody>
            <a:bodyPr lIns="0" tIns="0" rIns="0" bIns="0" rtlCol="0" anchor="ctr"/>
            <a:lstStyle/>
            <a:p>
              <a:pPr algn="ctr">
                <a:lnSpc>
                  <a:spcPts val="4697"/>
                </a:lnSpc>
              </a:pPr>
              <a:r>
                <a:rPr lang="en-US" sz="3261" b="1">
                  <a:solidFill>
                    <a:srgbClr val="5D8AA8"/>
                  </a:solidFill>
                  <a:latin typeface="Ubuntu Bold"/>
                  <a:ea typeface="Ubuntu Bold"/>
                  <a:cs typeface="Ubuntu Bold"/>
                  <a:sym typeface="Ubuntu Bold"/>
                </a:rPr>
                <a:t>Gender</a:t>
              </a:r>
            </a:p>
          </p:txBody>
        </p:sp>
      </p:grpSp>
      <p:grpSp>
        <p:nvGrpSpPr>
          <p:cNvPr id="30" name="Group 30"/>
          <p:cNvGrpSpPr/>
          <p:nvPr/>
        </p:nvGrpSpPr>
        <p:grpSpPr>
          <a:xfrm>
            <a:off x="985647" y="3514039"/>
            <a:ext cx="16298856" cy="1699879"/>
            <a:chOff x="0" y="0"/>
            <a:chExt cx="21731808" cy="2266506"/>
          </a:xfrm>
        </p:grpSpPr>
        <p:sp>
          <p:nvSpPr>
            <p:cNvPr id="31" name="Freeform 31"/>
            <p:cNvSpPr/>
            <p:nvPr/>
          </p:nvSpPr>
          <p:spPr>
            <a:xfrm>
              <a:off x="0" y="0"/>
              <a:ext cx="21731805" cy="2266507"/>
            </a:xfrm>
            <a:custGeom>
              <a:avLst/>
              <a:gdLst/>
              <a:ahLst/>
              <a:cxnLst/>
              <a:rect l="l" t="t" r="r" b="b"/>
              <a:pathLst>
                <a:path w="21731805" h="2266507">
                  <a:moveTo>
                    <a:pt x="0" y="0"/>
                  </a:moveTo>
                  <a:lnTo>
                    <a:pt x="21731805" y="0"/>
                  </a:lnTo>
                  <a:lnTo>
                    <a:pt x="21731805"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32" name="TextBox 32"/>
            <p:cNvSpPr txBox="1"/>
            <p:nvPr/>
          </p:nvSpPr>
          <p:spPr>
            <a:xfrm>
              <a:off x="0" y="-142875"/>
              <a:ext cx="21731808"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In political science and polling, demographic variables like age, income, and gender are widely treated as strong, reliable predictors of party identification. These factors reflect generational political socialization patterns and create predictable voting blocs observed across multiple electoral cycles. But does this hold when we test it on real individual-level data?</a:t>
              </a:r>
            </a:p>
          </p:txBody>
        </p:sp>
      </p:grpSp>
      <p:sp>
        <p:nvSpPr>
          <p:cNvPr id="33" name="Freeform 33"/>
          <p:cNvSpPr/>
          <p:nvPr/>
        </p:nvSpPr>
        <p:spPr>
          <a:xfrm>
            <a:off x="3428333" y="6099572"/>
            <a:ext cx="342833" cy="271405"/>
          </a:xfrm>
          <a:custGeom>
            <a:avLst/>
            <a:gdLst/>
            <a:ahLst/>
            <a:cxnLst/>
            <a:rect l="l" t="t" r="r" b="b"/>
            <a:pathLst>
              <a:path w="342833" h="271405">
                <a:moveTo>
                  <a:pt x="0" y="0"/>
                </a:moveTo>
                <a:lnTo>
                  <a:pt x="342834" y="0"/>
                </a:lnTo>
                <a:lnTo>
                  <a:pt x="342834" y="271405"/>
                </a:lnTo>
                <a:lnTo>
                  <a:pt x="0" y="271405"/>
                </a:lnTo>
                <a:lnTo>
                  <a:pt x="0" y="0"/>
                </a:lnTo>
                <a:close/>
              </a:path>
            </a:pathLst>
          </a:custGeom>
          <a:blipFill>
            <a:blip r:embed="rId3"/>
            <a:stretch>
              <a:fillRect t="-14101" r="-1494" b="-14104"/>
            </a:stretch>
          </a:blipFill>
        </p:spPr>
        <p:txBody>
          <a:bodyPr/>
          <a:lstStyle/>
          <a:p>
            <a:endParaRPr lang="en-US"/>
          </a:p>
        </p:txBody>
      </p:sp>
      <p:sp>
        <p:nvSpPr>
          <p:cNvPr id="34" name="Freeform 34"/>
          <p:cNvSpPr/>
          <p:nvPr/>
        </p:nvSpPr>
        <p:spPr>
          <a:xfrm>
            <a:off x="8970797" y="6099572"/>
            <a:ext cx="314268" cy="271405"/>
          </a:xfrm>
          <a:custGeom>
            <a:avLst/>
            <a:gdLst/>
            <a:ahLst/>
            <a:cxnLst/>
            <a:rect l="l" t="t" r="r" b="b"/>
            <a:pathLst>
              <a:path w="314268" h="271405">
                <a:moveTo>
                  <a:pt x="0" y="0"/>
                </a:moveTo>
                <a:lnTo>
                  <a:pt x="314268" y="0"/>
                </a:lnTo>
                <a:lnTo>
                  <a:pt x="314268" y="271405"/>
                </a:lnTo>
                <a:lnTo>
                  <a:pt x="0" y="271405"/>
                </a:lnTo>
                <a:lnTo>
                  <a:pt x="0" y="0"/>
                </a:lnTo>
                <a:close/>
              </a:path>
            </a:pathLst>
          </a:custGeom>
          <a:blipFill>
            <a:blip r:embed="rId4"/>
            <a:stretch>
              <a:fillRect t="-8138" r="-421" b="-8142"/>
            </a:stretch>
          </a:blipFill>
        </p:spPr>
        <p:txBody>
          <a:bodyPr/>
          <a:lstStyle/>
          <a:p>
            <a:endParaRPr lang="en-US"/>
          </a:p>
        </p:txBody>
      </p:sp>
      <p:sp>
        <p:nvSpPr>
          <p:cNvPr id="35" name="Freeform 35"/>
          <p:cNvSpPr/>
          <p:nvPr/>
        </p:nvSpPr>
        <p:spPr>
          <a:xfrm>
            <a:off x="14484696" y="6099572"/>
            <a:ext cx="342833" cy="271405"/>
          </a:xfrm>
          <a:custGeom>
            <a:avLst/>
            <a:gdLst/>
            <a:ahLst/>
            <a:cxnLst/>
            <a:rect l="l" t="t" r="r" b="b"/>
            <a:pathLst>
              <a:path w="342833" h="271405">
                <a:moveTo>
                  <a:pt x="0" y="0"/>
                </a:moveTo>
                <a:lnTo>
                  <a:pt x="342833" y="0"/>
                </a:lnTo>
                <a:lnTo>
                  <a:pt x="342833" y="271405"/>
                </a:lnTo>
                <a:lnTo>
                  <a:pt x="0" y="271405"/>
                </a:lnTo>
                <a:lnTo>
                  <a:pt x="0" y="0"/>
                </a:lnTo>
                <a:close/>
              </a:path>
            </a:pathLst>
          </a:custGeom>
          <a:blipFill>
            <a:blip r:embed="rId5"/>
            <a:stretch>
              <a:fillRect t="-14101" r="-1494" b="-14104"/>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2899801"/>
            <a:ext cx="5242493" cy="5471046"/>
            <a:chOff x="0" y="0"/>
            <a:chExt cx="6989991" cy="7294728"/>
          </a:xfrm>
        </p:grpSpPr>
        <p:sp>
          <p:nvSpPr>
            <p:cNvPr id="7" name="Freeform 7"/>
            <p:cNvSpPr/>
            <p:nvPr/>
          </p:nvSpPr>
          <p:spPr>
            <a:xfrm>
              <a:off x="0" y="0"/>
              <a:ext cx="6989953" cy="7294753"/>
            </a:xfrm>
            <a:custGeom>
              <a:avLst/>
              <a:gdLst/>
              <a:ahLst/>
              <a:cxnLst/>
              <a:rect l="l" t="t" r="r" b="b"/>
              <a:pathLst>
                <a:path w="6989953" h="7294753">
                  <a:moveTo>
                    <a:pt x="0" y="0"/>
                  </a:moveTo>
                  <a:lnTo>
                    <a:pt x="6989953" y="0"/>
                  </a:lnTo>
                  <a:lnTo>
                    <a:pt x="6989953" y="7294753"/>
                  </a:lnTo>
                  <a:lnTo>
                    <a:pt x="0" y="7294753"/>
                  </a:lnTo>
                  <a:close/>
                </a:path>
              </a:pathLst>
            </a:custGeom>
            <a:solidFill>
              <a:srgbClr val="D6ADAD">
                <a:alpha val="22745"/>
              </a:srgbClr>
            </a:solidFill>
            <a:ln w="12700">
              <a:solidFill>
                <a:srgbClr val="000000"/>
              </a:solidFill>
            </a:ln>
          </p:spPr>
          <p:txBody>
            <a:bodyPr/>
            <a:lstStyle/>
            <a:p>
              <a:endParaRPr lang="en-US"/>
            </a:p>
          </p:txBody>
        </p:sp>
      </p:grpSp>
      <p:grpSp>
        <p:nvGrpSpPr>
          <p:cNvPr id="8" name="Group 8"/>
          <p:cNvGrpSpPr/>
          <p:nvPr/>
        </p:nvGrpSpPr>
        <p:grpSpPr>
          <a:xfrm>
            <a:off x="1271340" y="3185493"/>
            <a:ext cx="842801" cy="842801"/>
            <a:chOff x="0" y="0"/>
            <a:chExt cx="1123734" cy="1123734"/>
          </a:xfrm>
        </p:grpSpPr>
        <p:sp>
          <p:nvSpPr>
            <p:cNvPr id="9" name="Freeform 9"/>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0" name="Group 10"/>
          <p:cNvGrpSpPr/>
          <p:nvPr/>
        </p:nvGrpSpPr>
        <p:grpSpPr>
          <a:xfrm>
            <a:off x="6513824" y="2899801"/>
            <a:ext cx="5242493" cy="5471046"/>
            <a:chOff x="0" y="0"/>
            <a:chExt cx="6989991" cy="7294728"/>
          </a:xfrm>
        </p:grpSpPr>
        <p:sp>
          <p:nvSpPr>
            <p:cNvPr id="11" name="Freeform 11"/>
            <p:cNvSpPr/>
            <p:nvPr/>
          </p:nvSpPr>
          <p:spPr>
            <a:xfrm>
              <a:off x="0" y="0"/>
              <a:ext cx="6989953" cy="7294753"/>
            </a:xfrm>
            <a:custGeom>
              <a:avLst/>
              <a:gdLst/>
              <a:ahLst/>
              <a:cxnLst/>
              <a:rect l="l" t="t" r="r" b="b"/>
              <a:pathLst>
                <a:path w="6989953" h="7294753">
                  <a:moveTo>
                    <a:pt x="0" y="0"/>
                  </a:moveTo>
                  <a:lnTo>
                    <a:pt x="6989953" y="0"/>
                  </a:lnTo>
                  <a:lnTo>
                    <a:pt x="6989953" y="7294753"/>
                  </a:lnTo>
                  <a:lnTo>
                    <a:pt x="0" y="7294753"/>
                  </a:lnTo>
                  <a:close/>
                </a:path>
              </a:pathLst>
            </a:custGeom>
            <a:solidFill>
              <a:srgbClr val="D6ADAD">
                <a:alpha val="22745"/>
              </a:srgbClr>
            </a:solidFill>
            <a:ln w="12700">
              <a:solidFill>
                <a:srgbClr val="000000"/>
              </a:solidFill>
            </a:ln>
          </p:spPr>
          <p:txBody>
            <a:bodyPr/>
            <a:lstStyle/>
            <a:p>
              <a:endParaRPr lang="en-US"/>
            </a:p>
          </p:txBody>
        </p:sp>
      </p:grpSp>
      <p:grpSp>
        <p:nvGrpSpPr>
          <p:cNvPr id="12" name="Group 12"/>
          <p:cNvGrpSpPr/>
          <p:nvPr/>
        </p:nvGrpSpPr>
        <p:grpSpPr>
          <a:xfrm>
            <a:off x="6799526" y="3185493"/>
            <a:ext cx="842801" cy="842801"/>
            <a:chOff x="0" y="0"/>
            <a:chExt cx="1123734" cy="1123734"/>
          </a:xfrm>
        </p:grpSpPr>
        <p:sp>
          <p:nvSpPr>
            <p:cNvPr id="13" name="Freeform 13"/>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4" name="Group 14"/>
          <p:cNvGrpSpPr/>
          <p:nvPr/>
        </p:nvGrpSpPr>
        <p:grpSpPr>
          <a:xfrm>
            <a:off x="12042010" y="2899801"/>
            <a:ext cx="5242493" cy="5471046"/>
            <a:chOff x="0" y="0"/>
            <a:chExt cx="6989991" cy="7294728"/>
          </a:xfrm>
        </p:grpSpPr>
        <p:sp>
          <p:nvSpPr>
            <p:cNvPr id="15" name="Freeform 15"/>
            <p:cNvSpPr/>
            <p:nvPr/>
          </p:nvSpPr>
          <p:spPr>
            <a:xfrm>
              <a:off x="0" y="0"/>
              <a:ext cx="6989953" cy="7294753"/>
            </a:xfrm>
            <a:custGeom>
              <a:avLst/>
              <a:gdLst/>
              <a:ahLst/>
              <a:cxnLst/>
              <a:rect l="l" t="t" r="r" b="b"/>
              <a:pathLst>
                <a:path w="6989953" h="7294753">
                  <a:moveTo>
                    <a:pt x="0" y="0"/>
                  </a:moveTo>
                  <a:lnTo>
                    <a:pt x="6989953" y="0"/>
                  </a:lnTo>
                  <a:lnTo>
                    <a:pt x="6989953" y="7294753"/>
                  </a:lnTo>
                  <a:lnTo>
                    <a:pt x="0" y="7294753"/>
                  </a:lnTo>
                  <a:close/>
                </a:path>
              </a:pathLst>
            </a:custGeom>
            <a:solidFill>
              <a:srgbClr val="D6ADAD">
                <a:alpha val="22745"/>
              </a:srgbClr>
            </a:solidFill>
            <a:ln w="12700">
              <a:solidFill>
                <a:srgbClr val="000000"/>
              </a:solidFill>
            </a:ln>
          </p:spPr>
          <p:txBody>
            <a:bodyPr/>
            <a:lstStyle/>
            <a:p>
              <a:endParaRPr lang="en-US"/>
            </a:p>
          </p:txBody>
        </p:sp>
      </p:grpSp>
      <p:grpSp>
        <p:nvGrpSpPr>
          <p:cNvPr id="16" name="Group 16"/>
          <p:cNvGrpSpPr/>
          <p:nvPr/>
        </p:nvGrpSpPr>
        <p:grpSpPr>
          <a:xfrm>
            <a:off x="12327703" y="3185493"/>
            <a:ext cx="842801" cy="842801"/>
            <a:chOff x="0" y="0"/>
            <a:chExt cx="1123734" cy="1123734"/>
          </a:xfrm>
        </p:grpSpPr>
        <p:sp>
          <p:nvSpPr>
            <p:cNvPr id="17" name="Freeform 17"/>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8" name="Group 18"/>
          <p:cNvGrpSpPr/>
          <p:nvPr/>
        </p:nvGrpSpPr>
        <p:grpSpPr>
          <a:xfrm>
            <a:off x="985647" y="1899866"/>
            <a:ext cx="16298856" cy="671379"/>
            <a:chOff x="0" y="0"/>
            <a:chExt cx="21731808" cy="895172"/>
          </a:xfrm>
        </p:grpSpPr>
        <p:sp>
          <p:nvSpPr>
            <p:cNvPr id="19" name="Freeform 19"/>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blipFill>
              <a:blip r:embed="rId3">
                <a:alphaModFix amt="0"/>
              </a:blip>
              <a:stretch>
                <a:fillRect t="-2130423" r="-1042" b="-2130427"/>
              </a:stretch>
            </a:blipFill>
          </p:spPr>
          <p:txBody>
            <a:bodyPr/>
            <a:lstStyle/>
            <a:p>
              <a:endParaRPr lang="en-US"/>
            </a:p>
          </p:txBody>
        </p:sp>
        <p:sp>
          <p:nvSpPr>
            <p:cNvPr id="20" name="TextBox 20"/>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Why New York?</a:t>
              </a:r>
            </a:p>
          </p:txBody>
        </p:sp>
      </p:grpSp>
      <p:grpSp>
        <p:nvGrpSpPr>
          <p:cNvPr id="21" name="Group 21"/>
          <p:cNvGrpSpPr/>
          <p:nvPr/>
        </p:nvGrpSpPr>
        <p:grpSpPr>
          <a:xfrm>
            <a:off x="1271340" y="4313987"/>
            <a:ext cx="4671098" cy="499967"/>
            <a:chOff x="0" y="0"/>
            <a:chExt cx="6228131" cy="666623"/>
          </a:xfrm>
        </p:grpSpPr>
        <p:sp>
          <p:nvSpPr>
            <p:cNvPr id="22" name="Freeform 22"/>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3" name="TextBox 23"/>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Internal diversity</a:t>
              </a:r>
            </a:p>
          </p:txBody>
        </p:sp>
      </p:grpSp>
      <p:grpSp>
        <p:nvGrpSpPr>
          <p:cNvPr id="24" name="Group 24"/>
          <p:cNvGrpSpPr/>
          <p:nvPr/>
        </p:nvGrpSpPr>
        <p:grpSpPr>
          <a:xfrm>
            <a:off x="6799526" y="4313987"/>
            <a:ext cx="4671098" cy="1014212"/>
            <a:chOff x="0" y="0"/>
            <a:chExt cx="6228131" cy="1352283"/>
          </a:xfrm>
        </p:grpSpPr>
        <p:sp>
          <p:nvSpPr>
            <p:cNvPr id="25" name="Freeform 25"/>
            <p:cNvSpPr/>
            <p:nvPr/>
          </p:nvSpPr>
          <p:spPr>
            <a:xfrm>
              <a:off x="0" y="0"/>
              <a:ext cx="6228133" cy="1352286"/>
            </a:xfrm>
            <a:custGeom>
              <a:avLst/>
              <a:gdLst/>
              <a:ahLst/>
              <a:cxnLst/>
              <a:rect l="l" t="t" r="r" b="b"/>
              <a:pathLst>
                <a:path w="6228133" h="1352286">
                  <a:moveTo>
                    <a:pt x="0" y="0"/>
                  </a:moveTo>
                  <a:lnTo>
                    <a:pt x="6228133" y="0"/>
                  </a:lnTo>
                  <a:lnTo>
                    <a:pt x="6228133" y="1352286"/>
                  </a:lnTo>
                  <a:lnTo>
                    <a:pt x="0" y="1352286"/>
                  </a:lnTo>
                  <a:close/>
                </a:path>
              </a:pathLst>
            </a:custGeom>
            <a:solidFill>
              <a:srgbClr val="000000">
                <a:alpha val="0"/>
              </a:srgbClr>
            </a:solidFill>
            <a:ln w="12700">
              <a:solidFill>
                <a:srgbClr val="000000"/>
              </a:solidFill>
            </a:ln>
          </p:spPr>
          <p:txBody>
            <a:bodyPr/>
            <a:lstStyle/>
            <a:p>
              <a:endParaRPr lang="en-US"/>
            </a:p>
          </p:txBody>
        </p:sp>
        <p:sp>
          <p:nvSpPr>
            <p:cNvPr id="26" name="TextBox 26"/>
            <p:cNvSpPr txBox="1"/>
            <p:nvPr/>
          </p:nvSpPr>
          <p:spPr>
            <a:xfrm>
              <a:off x="0" y="-85725"/>
              <a:ext cx="6228131" cy="143800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Individual-level analysis</a:t>
              </a:r>
            </a:p>
          </p:txBody>
        </p:sp>
      </p:grpSp>
      <p:grpSp>
        <p:nvGrpSpPr>
          <p:cNvPr id="27" name="Group 27"/>
          <p:cNvGrpSpPr/>
          <p:nvPr/>
        </p:nvGrpSpPr>
        <p:grpSpPr>
          <a:xfrm>
            <a:off x="12327703" y="4313987"/>
            <a:ext cx="4671098" cy="499967"/>
            <a:chOff x="0" y="0"/>
            <a:chExt cx="6228131" cy="666623"/>
          </a:xfrm>
        </p:grpSpPr>
        <p:sp>
          <p:nvSpPr>
            <p:cNvPr id="28" name="Freeform 28"/>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blipFill>
              <a:blip r:embed="rId3">
                <a:alphaModFix amt="0"/>
              </a:blip>
              <a:stretch>
                <a:fillRect t="-789136" r="-1042" b="-789138"/>
              </a:stretch>
            </a:blipFill>
          </p:spPr>
          <p:txBody>
            <a:bodyPr/>
            <a:lstStyle/>
            <a:p>
              <a:endParaRPr lang="en-US"/>
            </a:p>
          </p:txBody>
        </p:sp>
        <p:sp>
          <p:nvSpPr>
            <p:cNvPr id="29" name="TextBox 29"/>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Real data</a:t>
              </a:r>
            </a:p>
          </p:txBody>
        </p:sp>
      </p:grpSp>
      <p:grpSp>
        <p:nvGrpSpPr>
          <p:cNvPr id="30" name="Group 30"/>
          <p:cNvGrpSpPr/>
          <p:nvPr/>
        </p:nvGrpSpPr>
        <p:grpSpPr>
          <a:xfrm>
            <a:off x="1271340" y="5028219"/>
            <a:ext cx="4671098" cy="2981560"/>
            <a:chOff x="0" y="0"/>
            <a:chExt cx="6228131" cy="3975413"/>
          </a:xfrm>
        </p:grpSpPr>
        <p:sp>
          <p:nvSpPr>
            <p:cNvPr id="31" name="Freeform 31"/>
            <p:cNvSpPr/>
            <p:nvPr/>
          </p:nvSpPr>
          <p:spPr>
            <a:xfrm>
              <a:off x="0" y="0"/>
              <a:ext cx="6228133" cy="3975414"/>
            </a:xfrm>
            <a:custGeom>
              <a:avLst/>
              <a:gdLst/>
              <a:ahLst/>
              <a:cxnLst/>
              <a:rect l="l" t="t" r="r" b="b"/>
              <a:pathLst>
                <a:path w="6228133" h="3975414">
                  <a:moveTo>
                    <a:pt x="0" y="0"/>
                  </a:moveTo>
                  <a:lnTo>
                    <a:pt x="6228133" y="0"/>
                  </a:lnTo>
                  <a:lnTo>
                    <a:pt x="6228133" y="3975414"/>
                  </a:lnTo>
                  <a:lnTo>
                    <a:pt x="0" y="3975414"/>
                  </a:lnTo>
                  <a:close/>
                </a:path>
              </a:pathLst>
            </a:custGeom>
            <a:solidFill>
              <a:srgbClr val="000000">
                <a:alpha val="0"/>
              </a:srgbClr>
            </a:solidFill>
            <a:ln w="12700">
              <a:solidFill>
                <a:srgbClr val="000000"/>
              </a:solidFill>
            </a:ln>
          </p:spPr>
          <p:txBody>
            <a:bodyPr/>
            <a:lstStyle/>
            <a:p>
              <a:endParaRPr lang="en-US"/>
            </a:p>
          </p:txBody>
        </p:sp>
        <p:sp>
          <p:nvSpPr>
            <p:cNvPr id="32" name="TextBox 32"/>
            <p:cNvSpPr txBox="1"/>
            <p:nvPr/>
          </p:nvSpPr>
          <p:spPr>
            <a:xfrm>
              <a:off x="0" y="-85725"/>
              <a:ext cx="6228131" cy="4061138"/>
            </a:xfrm>
            <a:prstGeom prst="rect">
              <a:avLst/>
            </a:prstGeom>
          </p:spPr>
          <p:txBody>
            <a:bodyPr lIns="0" tIns="0" rIns="0" bIns="0" rtlCol="0" anchor="ctr"/>
            <a:lstStyle/>
            <a:p>
              <a:pPr algn="l">
                <a:lnSpc>
                  <a:spcPts val="3291"/>
                </a:lnSpc>
              </a:pPr>
              <a:r>
                <a:rPr lang="en-US" sz="2137" b="1">
                  <a:solidFill>
                    <a:srgbClr val="000000"/>
                  </a:solidFill>
                  <a:latin typeface="Poppins Bold"/>
                  <a:ea typeface="Poppins Bold"/>
                  <a:cs typeface="Poppins Bold"/>
                  <a:sym typeface="Poppins Bold"/>
                </a:rPr>
                <a:t>While New York votes solidly Democratic in aggregate, it contains significant regional and demographic variation - making it an ideal test case where patterns aren't obvious at first glance.</a:t>
              </a:r>
            </a:p>
          </p:txBody>
        </p:sp>
      </p:grpSp>
      <p:grpSp>
        <p:nvGrpSpPr>
          <p:cNvPr id="33" name="Group 33"/>
          <p:cNvGrpSpPr/>
          <p:nvPr/>
        </p:nvGrpSpPr>
        <p:grpSpPr>
          <a:xfrm>
            <a:off x="6799526" y="5528186"/>
            <a:ext cx="4671098" cy="2762587"/>
            <a:chOff x="0" y="0"/>
            <a:chExt cx="6228131" cy="3683450"/>
          </a:xfrm>
        </p:grpSpPr>
        <p:sp>
          <p:nvSpPr>
            <p:cNvPr id="34" name="Freeform 34"/>
            <p:cNvSpPr/>
            <p:nvPr/>
          </p:nvSpPr>
          <p:spPr>
            <a:xfrm>
              <a:off x="0" y="0"/>
              <a:ext cx="6228133" cy="3683448"/>
            </a:xfrm>
            <a:custGeom>
              <a:avLst/>
              <a:gdLst/>
              <a:ahLst/>
              <a:cxnLst/>
              <a:rect l="l" t="t" r="r" b="b"/>
              <a:pathLst>
                <a:path w="6228133" h="3683448">
                  <a:moveTo>
                    <a:pt x="0" y="0"/>
                  </a:moveTo>
                  <a:lnTo>
                    <a:pt x="6228133" y="0"/>
                  </a:lnTo>
                  <a:lnTo>
                    <a:pt x="6228133" y="3683448"/>
                  </a:lnTo>
                  <a:lnTo>
                    <a:pt x="0" y="3683448"/>
                  </a:lnTo>
                  <a:close/>
                </a:path>
              </a:pathLst>
            </a:custGeom>
            <a:solidFill>
              <a:srgbClr val="000000">
                <a:alpha val="0"/>
              </a:srgbClr>
            </a:solidFill>
            <a:ln w="12700">
              <a:solidFill>
                <a:srgbClr val="000000"/>
              </a:solidFill>
            </a:ln>
          </p:spPr>
          <p:txBody>
            <a:bodyPr/>
            <a:lstStyle/>
            <a:p>
              <a:endParaRPr lang="en-US"/>
            </a:p>
          </p:txBody>
        </p:sp>
        <p:sp>
          <p:nvSpPr>
            <p:cNvPr id="35" name="TextBox 35"/>
            <p:cNvSpPr txBox="1"/>
            <p:nvPr/>
          </p:nvSpPr>
          <p:spPr>
            <a:xfrm>
              <a:off x="0" y="-114300"/>
              <a:ext cx="6228131" cy="3797750"/>
            </a:xfrm>
            <a:prstGeom prst="rect">
              <a:avLst/>
            </a:prstGeom>
          </p:spPr>
          <p:txBody>
            <a:bodyPr lIns="0" tIns="0" rIns="0" bIns="0" rtlCol="0" anchor="ctr"/>
            <a:lstStyle/>
            <a:p>
              <a:pPr algn="l">
                <a:lnSpc>
                  <a:spcPts val="3590"/>
                </a:lnSpc>
              </a:pPr>
              <a:r>
                <a:rPr lang="en-US" sz="2137" b="1">
                  <a:solidFill>
                    <a:srgbClr val="000000"/>
                  </a:solidFill>
                  <a:latin typeface="Poppins Bold"/>
                  <a:ea typeface="Poppins Bold"/>
                  <a:cs typeface="Poppins Bold"/>
                  <a:sym typeface="Poppins Bold"/>
                </a:rPr>
                <a:t>We analyze actual voter behavior at the individual level, cutting against typical state-level polling that often masks important micro-level variations.</a:t>
              </a:r>
            </a:p>
          </p:txBody>
        </p:sp>
      </p:grpSp>
      <p:grpSp>
        <p:nvGrpSpPr>
          <p:cNvPr id="36" name="Group 36"/>
          <p:cNvGrpSpPr/>
          <p:nvPr/>
        </p:nvGrpSpPr>
        <p:grpSpPr>
          <a:xfrm>
            <a:off x="12327703" y="5028219"/>
            <a:ext cx="4671098" cy="2719008"/>
            <a:chOff x="0" y="0"/>
            <a:chExt cx="6228131" cy="3625344"/>
          </a:xfrm>
        </p:grpSpPr>
        <p:sp>
          <p:nvSpPr>
            <p:cNvPr id="37" name="Freeform 37"/>
            <p:cNvSpPr/>
            <p:nvPr/>
          </p:nvSpPr>
          <p:spPr>
            <a:xfrm>
              <a:off x="0" y="0"/>
              <a:ext cx="6228133" cy="3625342"/>
            </a:xfrm>
            <a:custGeom>
              <a:avLst/>
              <a:gdLst/>
              <a:ahLst/>
              <a:cxnLst/>
              <a:rect l="l" t="t" r="r" b="b"/>
              <a:pathLst>
                <a:path w="6228133" h="3625342">
                  <a:moveTo>
                    <a:pt x="0" y="0"/>
                  </a:moveTo>
                  <a:lnTo>
                    <a:pt x="6228133" y="0"/>
                  </a:lnTo>
                  <a:lnTo>
                    <a:pt x="6228133" y="3625342"/>
                  </a:lnTo>
                  <a:lnTo>
                    <a:pt x="0" y="3625342"/>
                  </a:lnTo>
                  <a:close/>
                </a:path>
              </a:pathLst>
            </a:custGeom>
            <a:solidFill>
              <a:srgbClr val="000000">
                <a:alpha val="0"/>
              </a:srgbClr>
            </a:solidFill>
            <a:ln w="12700">
              <a:solidFill>
                <a:srgbClr val="000000"/>
              </a:solidFill>
            </a:ln>
          </p:spPr>
          <p:txBody>
            <a:bodyPr/>
            <a:lstStyle/>
            <a:p>
              <a:endParaRPr lang="en-US"/>
            </a:p>
          </p:txBody>
        </p:sp>
        <p:sp>
          <p:nvSpPr>
            <p:cNvPr id="38" name="TextBox 38"/>
            <p:cNvSpPr txBox="1"/>
            <p:nvPr/>
          </p:nvSpPr>
          <p:spPr>
            <a:xfrm>
              <a:off x="0" y="-104775"/>
              <a:ext cx="6228131" cy="3730119"/>
            </a:xfrm>
            <a:prstGeom prst="rect">
              <a:avLst/>
            </a:prstGeom>
          </p:spPr>
          <p:txBody>
            <a:bodyPr lIns="0" tIns="0" rIns="0" bIns="0" rtlCol="0" anchor="ctr"/>
            <a:lstStyle/>
            <a:p>
              <a:pPr algn="l">
                <a:lnSpc>
                  <a:spcPts val="3483"/>
                </a:lnSpc>
              </a:pPr>
              <a:r>
                <a:rPr lang="en-US" sz="2137" b="1">
                  <a:solidFill>
                    <a:srgbClr val="000000"/>
                  </a:solidFill>
                  <a:latin typeface="Poppins Bold"/>
                  <a:ea typeface="Poppins Bold"/>
                  <a:cs typeface="Poppins Bold"/>
                  <a:sym typeface="Poppins Bold"/>
                </a:rPr>
                <a:t>Our findings are based on real voter records and actual behavior, not surveys or predictive models - providing concrete evidence rather than projections.</a:t>
              </a:r>
            </a:p>
          </p:txBody>
        </p:sp>
      </p:grpSp>
      <p:sp>
        <p:nvSpPr>
          <p:cNvPr id="39" name="Freeform 39"/>
          <p:cNvSpPr/>
          <p:nvPr/>
        </p:nvSpPr>
        <p:spPr>
          <a:xfrm>
            <a:off x="1514180" y="3471186"/>
            <a:ext cx="342833" cy="271405"/>
          </a:xfrm>
          <a:custGeom>
            <a:avLst/>
            <a:gdLst/>
            <a:ahLst/>
            <a:cxnLst/>
            <a:rect l="l" t="t" r="r" b="b"/>
            <a:pathLst>
              <a:path w="342833" h="271405">
                <a:moveTo>
                  <a:pt x="0" y="0"/>
                </a:moveTo>
                <a:lnTo>
                  <a:pt x="342833" y="0"/>
                </a:lnTo>
                <a:lnTo>
                  <a:pt x="342833" y="271406"/>
                </a:lnTo>
                <a:lnTo>
                  <a:pt x="0" y="271406"/>
                </a:lnTo>
                <a:lnTo>
                  <a:pt x="0" y="0"/>
                </a:lnTo>
                <a:close/>
              </a:path>
            </a:pathLst>
          </a:custGeom>
          <a:blipFill>
            <a:blip r:embed="rId4"/>
            <a:stretch>
              <a:fillRect t="-14101" r="-1494" b="-14104"/>
            </a:stretch>
          </a:blipFill>
        </p:spPr>
        <p:txBody>
          <a:bodyPr/>
          <a:lstStyle/>
          <a:p>
            <a:endParaRPr lang="en-US"/>
          </a:p>
        </p:txBody>
      </p:sp>
      <p:sp>
        <p:nvSpPr>
          <p:cNvPr id="40" name="Freeform 40"/>
          <p:cNvSpPr/>
          <p:nvPr/>
        </p:nvSpPr>
        <p:spPr>
          <a:xfrm>
            <a:off x="7085219" y="3471186"/>
            <a:ext cx="271405" cy="271405"/>
          </a:xfrm>
          <a:custGeom>
            <a:avLst/>
            <a:gdLst/>
            <a:ahLst/>
            <a:cxnLst/>
            <a:rect l="l" t="t" r="r" b="b"/>
            <a:pathLst>
              <a:path w="271405" h="271405">
                <a:moveTo>
                  <a:pt x="0" y="0"/>
                </a:moveTo>
                <a:lnTo>
                  <a:pt x="271405" y="0"/>
                </a:lnTo>
                <a:lnTo>
                  <a:pt x="271405" y="271406"/>
                </a:lnTo>
                <a:lnTo>
                  <a:pt x="0" y="271406"/>
                </a:lnTo>
                <a:lnTo>
                  <a:pt x="0" y="0"/>
                </a:lnTo>
                <a:close/>
              </a:path>
            </a:pathLst>
          </a:custGeom>
          <a:blipFill>
            <a:blip r:embed="rId5"/>
            <a:stretch>
              <a:fillRect/>
            </a:stretch>
          </a:blipFill>
        </p:spPr>
        <p:txBody>
          <a:bodyPr/>
          <a:lstStyle/>
          <a:p>
            <a:endParaRPr lang="en-US"/>
          </a:p>
        </p:txBody>
      </p:sp>
      <p:sp>
        <p:nvSpPr>
          <p:cNvPr id="41" name="Freeform 41"/>
          <p:cNvSpPr/>
          <p:nvPr/>
        </p:nvSpPr>
        <p:spPr>
          <a:xfrm>
            <a:off x="12627683" y="3471186"/>
            <a:ext cx="242840" cy="271405"/>
          </a:xfrm>
          <a:custGeom>
            <a:avLst/>
            <a:gdLst/>
            <a:ahLst/>
            <a:cxnLst/>
            <a:rect l="l" t="t" r="r" b="b"/>
            <a:pathLst>
              <a:path w="242840" h="271405">
                <a:moveTo>
                  <a:pt x="0" y="0"/>
                </a:moveTo>
                <a:lnTo>
                  <a:pt x="242840" y="0"/>
                </a:lnTo>
                <a:lnTo>
                  <a:pt x="242840" y="271406"/>
                </a:lnTo>
                <a:lnTo>
                  <a:pt x="0" y="271406"/>
                </a:lnTo>
                <a:lnTo>
                  <a:pt x="0" y="0"/>
                </a:lnTo>
                <a:close/>
              </a:path>
            </a:pathLst>
          </a:custGeom>
          <a:blipFill>
            <a:blip r:embed="rId6"/>
            <a:stretch>
              <a:fillRect l="-6817" r="-6820" b="-1677"/>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5156778"/>
            <a:ext cx="628526" cy="628526"/>
            <a:chOff x="0" y="0"/>
            <a:chExt cx="838035" cy="838035"/>
          </a:xfrm>
        </p:grpSpPr>
        <p:sp>
          <p:nvSpPr>
            <p:cNvPr id="7" name="Freeform 7"/>
            <p:cNvSpPr/>
            <p:nvPr/>
          </p:nvSpPr>
          <p:spPr>
            <a:xfrm>
              <a:off x="0" y="0"/>
              <a:ext cx="838073" cy="838073"/>
            </a:xfrm>
            <a:custGeom>
              <a:avLst/>
              <a:gdLst/>
              <a:ahLst/>
              <a:cxnLst/>
              <a:rect l="l" t="t" r="r" b="b"/>
              <a:pathLst>
                <a:path w="838073" h="838073">
                  <a:moveTo>
                    <a:pt x="0" y="0"/>
                  </a:moveTo>
                  <a:lnTo>
                    <a:pt x="838073" y="0"/>
                  </a:lnTo>
                  <a:lnTo>
                    <a:pt x="838073" y="838073"/>
                  </a:lnTo>
                  <a:lnTo>
                    <a:pt x="0" y="838073"/>
                  </a:lnTo>
                  <a:close/>
                </a:path>
              </a:pathLst>
            </a:custGeom>
            <a:solidFill>
              <a:srgbClr val="D7B5B5"/>
            </a:solidFill>
            <a:ln w="12700">
              <a:solidFill>
                <a:srgbClr val="000000"/>
              </a:solidFill>
            </a:ln>
          </p:spPr>
          <p:txBody>
            <a:bodyPr/>
            <a:lstStyle/>
            <a:p>
              <a:endParaRPr lang="en-US"/>
            </a:p>
          </p:txBody>
        </p:sp>
      </p:grpSp>
      <p:grpSp>
        <p:nvGrpSpPr>
          <p:cNvPr id="8" name="Group 8"/>
          <p:cNvGrpSpPr/>
          <p:nvPr/>
        </p:nvGrpSpPr>
        <p:grpSpPr>
          <a:xfrm>
            <a:off x="586148" y="1028700"/>
            <a:ext cx="16298856" cy="768345"/>
            <a:chOff x="0" y="0"/>
            <a:chExt cx="21731808" cy="1024460"/>
          </a:xfrm>
        </p:grpSpPr>
        <p:sp>
          <p:nvSpPr>
            <p:cNvPr id="9" name="Freeform 9"/>
            <p:cNvSpPr/>
            <p:nvPr/>
          </p:nvSpPr>
          <p:spPr>
            <a:xfrm>
              <a:off x="0" y="0"/>
              <a:ext cx="21731805" cy="1024463"/>
            </a:xfrm>
            <a:custGeom>
              <a:avLst/>
              <a:gdLst/>
              <a:ahLst/>
              <a:cxnLst/>
              <a:rect l="l" t="t" r="r" b="b"/>
              <a:pathLst>
                <a:path w="21731805" h="1024463">
                  <a:moveTo>
                    <a:pt x="0" y="0"/>
                  </a:moveTo>
                  <a:lnTo>
                    <a:pt x="21731805" y="0"/>
                  </a:lnTo>
                  <a:lnTo>
                    <a:pt x="21731805" y="1024463"/>
                  </a:lnTo>
                  <a:lnTo>
                    <a:pt x="0" y="1024463"/>
                  </a:lnTo>
                  <a:close/>
                </a:path>
              </a:pathLst>
            </a:custGeom>
            <a:solidFill>
              <a:srgbClr val="000000">
                <a:alpha val="0"/>
              </a:srgbClr>
            </a:solidFill>
            <a:ln w="12700">
              <a:solidFill>
                <a:srgbClr val="000000"/>
              </a:solidFill>
            </a:ln>
          </p:spPr>
          <p:txBody>
            <a:bodyPr/>
            <a:lstStyle/>
            <a:p>
              <a:endParaRPr lang="en-US"/>
            </a:p>
          </p:txBody>
        </p:sp>
        <p:sp>
          <p:nvSpPr>
            <p:cNvPr id="10" name="TextBox 10"/>
            <p:cNvSpPr txBox="1"/>
            <p:nvPr/>
          </p:nvSpPr>
          <p:spPr>
            <a:xfrm>
              <a:off x="0" y="-123825"/>
              <a:ext cx="21731808" cy="1148285"/>
            </a:xfrm>
            <a:prstGeom prst="rect">
              <a:avLst/>
            </a:prstGeom>
          </p:spPr>
          <p:txBody>
            <a:bodyPr lIns="0" tIns="0" rIns="0" bIns="0" rtlCol="0" anchor="ctr"/>
            <a:lstStyle/>
            <a:p>
              <a:pPr algn="l">
                <a:lnSpc>
                  <a:spcPts val="6316"/>
                </a:lnSpc>
              </a:pPr>
              <a:r>
                <a:rPr lang="en-US" sz="4386" b="1">
                  <a:solidFill>
                    <a:srgbClr val="5D8AA8"/>
                  </a:solidFill>
                  <a:latin typeface="Ubuntu Bold"/>
                  <a:ea typeface="Ubuntu Bold"/>
                  <a:cs typeface="Ubuntu Bold"/>
                  <a:sym typeface="Ubuntu Bold"/>
                </a:rPr>
                <a:t>Data: 2021 New York Voter File</a:t>
              </a:r>
            </a:p>
          </p:txBody>
        </p:sp>
      </p:grpSp>
      <p:grpSp>
        <p:nvGrpSpPr>
          <p:cNvPr id="11" name="Group 11"/>
          <p:cNvGrpSpPr/>
          <p:nvPr/>
        </p:nvGrpSpPr>
        <p:grpSpPr>
          <a:xfrm>
            <a:off x="1199912" y="5271059"/>
            <a:ext cx="342833" cy="414261"/>
            <a:chOff x="0" y="0"/>
            <a:chExt cx="457111" cy="552348"/>
          </a:xfrm>
        </p:grpSpPr>
        <p:sp>
          <p:nvSpPr>
            <p:cNvPr id="12" name="Freeform 12"/>
            <p:cNvSpPr/>
            <p:nvPr/>
          </p:nvSpPr>
          <p:spPr>
            <a:xfrm>
              <a:off x="0" y="0"/>
              <a:ext cx="457111" cy="552342"/>
            </a:xfrm>
            <a:custGeom>
              <a:avLst/>
              <a:gdLst/>
              <a:ahLst/>
              <a:cxnLst/>
              <a:rect l="l" t="t" r="r" b="b"/>
              <a:pathLst>
                <a:path w="457111" h="552342">
                  <a:moveTo>
                    <a:pt x="0" y="0"/>
                  </a:moveTo>
                  <a:lnTo>
                    <a:pt x="457111" y="0"/>
                  </a:lnTo>
                  <a:lnTo>
                    <a:pt x="457111"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13" name="TextBox 13"/>
            <p:cNvSpPr txBox="1"/>
            <p:nvPr/>
          </p:nvSpPr>
          <p:spPr>
            <a:xfrm>
              <a:off x="0" y="-66675"/>
              <a:ext cx="457111" cy="619023"/>
            </a:xfrm>
            <a:prstGeom prst="rect">
              <a:avLst/>
            </a:prstGeom>
          </p:spPr>
          <p:txBody>
            <a:bodyPr lIns="0" tIns="0" rIns="0" bIns="0" rtlCol="0" anchor="ctr"/>
            <a:lstStyle/>
            <a:p>
              <a:pPr algn="l">
                <a:lnSpc>
                  <a:spcPts val="3887"/>
                </a:lnSpc>
              </a:pPr>
              <a:r>
                <a:rPr lang="en-US" sz="2699" b="1">
                  <a:solidFill>
                    <a:srgbClr val="860000"/>
                  </a:solidFill>
                  <a:latin typeface="Ubuntu Bold"/>
                  <a:ea typeface="Ubuntu Bold"/>
                  <a:cs typeface="Ubuntu Bold"/>
                  <a:sym typeface="Ubuntu Bold"/>
                </a:rPr>
                <a:t>1</a:t>
              </a:r>
            </a:p>
          </p:txBody>
        </p:sp>
      </p:grpSp>
      <p:grpSp>
        <p:nvGrpSpPr>
          <p:cNvPr id="14" name="Group 14"/>
          <p:cNvGrpSpPr/>
          <p:nvPr/>
        </p:nvGrpSpPr>
        <p:grpSpPr>
          <a:xfrm>
            <a:off x="1899866" y="5256771"/>
            <a:ext cx="15370350" cy="285693"/>
            <a:chOff x="0" y="0"/>
            <a:chExt cx="20493800" cy="380924"/>
          </a:xfrm>
        </p:grpSpPr>
        <p:sp>
          <p:nvSpPr>
            <p:cNvPr id="15" name="Freeform 15"/>
            <p:cNvSpPr/>
            <p:nvPr/>
          </p:nvSpPr>
          <p:spPr>
            <a:xfrm>
              <a:off x="0" y="0"/>
              <a:ext cx="20493797" cy="380926"/>
            </a:xfrm>
            <a:custGeom>
              <a:avLst/>
              <a:gdLst/>
              <a:ahLst/>
              <a:cxnLst/>
              <a:rect l="l" t="t" r="r" b="b"/>
              <a:pathLst>
                <a:path w="20493797" h="380926">
                  <a:moveTo>
                    <a:pt x="0" y="0"/>
                  </a:moveTo>
                  <a:lnTo>
                    <a:pt x="20493797" y="0"/>
                  </a:lnTo>
                  <a:lnTo>
                    <a:pt x="20493797" y="380926"/>
                  </a:lnTo>
                  <a:lnTo>
                    <a:pt x="0" y="380926"/>
                  </a:lnTo>
                  <a:close/>
                </a:path>
              </a:pathLst>
            </a:custGeom>
            <a:solidFill>
              <a:srgbClr val="000000">
                <a:alpha val="0"/>
              </a:srgbClr>
            </a:solidFill>
            <a:ln w="12700">
              <a:solidFill>
                <a:srgbClr val="000000"/>
              </a:solidFill>
            </a:ln>
          </p:spPr>
          <p:txBody>
            <a:bodyPr/>
            <a:lstStyle/>
            <a:p>
              <a:endParaRPr lang="en-US"/>
            </a:p>
          </p:txBody>
        </p:sp>
        <p:sp>
          <p:nvSpPr>
            <p:cNvPr id="16" name="TextBox 16"/>
            <p:cNvSpPr txBox="1"/>
            <p:nvPr/>
          </p:nvSpPr>
          <p:spPr>
            <a:xfrm>
              <a:off x="0" y="-66675"/>
              <a:ext cx="20493800" cy="447599"/>
            </a:xfrm>
            <a:prstGeom prst="rect">
              <a:avLst/>
            </a:prstGeom>
          </p:spPr>
          <p:txBody>
            <a:bodyPr lIns="0" tIns="0" rIns="0" bIns="0" rtlCol="0" anchor="ctr"/>
            <a:lstStyle/>
            <a:p>
              <a:pPr algn="l">
                <a:lnSpc>
                  <a:spcPts val="2753"/>
                </a:lnSpc>
              </a:pPr>
              <a:r>
                <a:rPr lang="en-US" sz="1912" b="1">
                  <a:solidFill>
                    <a:srgbClr val="5D8AA8"/>
                  </a:solidFill>
                  <a:latin typeface="Ubuntu Bold"/>
                  <a:ea typeface="Ubuntu Bold"/>
                  <a:cs typeface="Ubuntu Bold"/>
                  <a:sym typeface="Ubuntu Bold"/>
                </a:rPr>
                <a:t>Exclusions</a:t>
              </a:r>
            </a:p>
          </p:txBody>
        </p:sp>
      </p:grpSp>
      <p:grpSp>
        <p:nvGrpSpPr>
          <p:cNvPr id="17" name="Group 17"/>
          <p:cNvGrpSpPr/>
          <p:nvPr/>
        </p:nvGrpSpPr>
        <p:grpSpPr>
          <a:xfrm>
            <a:off x="985647" y="4413971"/>
            <a:ext cx="16298856" cy="414261"/>
            <a:chOff x="0" y="0"/>
            <a:chExt cx="21731808" cy="552348"/>
          </a:xfrm>
        </p:grpSpPr>
        <p:sp>
          <p:nvSpPr>
            <p:cNvPr id="18" name="Freeform 18"/>
            <p:cNvSpPr/>
            <p:nvPr/>
          </p:nvSpPr>
          <p:spPr>
            <a:xfrm>
              <a:off x="0" y="0"/>
              <a:ext cx="21731805" cy="552342"/>
            </a:xfrm>
            <a:custGeom>
              <a:avLst/>
              <a:gdLst/>
              <a:ahLst/>
              <a:cxnLst/>
              <a:rect l="l" t="t" r="r" b="b"/>
              <a:pathLst>
                <a:path w="21731805" h="552342">
                  <a:moveTo>
                    <a:pt x="0" y="0"/>
                  </a:moveTo>
                  <a:lnTo>
                    <a:pt x="21731805" y="0"/>
                  </a:lnTo>
                  <a:lnTo>
                    <a:pt x="21731805"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19" name="TextBox 19"/>
            <p:cNvSpPr txBox="1"/>
            <p:nvPr/>
          </p:nvSpPr>
          <p:spPr>
            <a:xfrm>
              <a:off x="0" y="-142875"/>
              <a:ext cx="21731808" cy="695223"/>
            </a:xfrm>
            <a:prstGeom prst="rect">
              <a:avLst/>
            </a:prstGeom>
          </p:spPr>
          <p:txBody>
            <a:bodyPr lIns="0" tIns="0" rIns="0" bIns="0" rtlCol="0" anchor="ctr"/>
            <a:lstStyle/>
            <a:p>
              <a:pPr algn="l">
                <a:lnSpc>
                  <a:spcPts val="3846"/>
                </a:lnSpc>
              </a:pPr>
              <a:r>
                <a:rPr lang="en-US" sz="2137" b="1" dirty="0">
                  <a:solidFill>
                    <a:srgbClr val="000000"/>
                  </a:solidFill>
                  <a:latin typeface="Poppins Bold"/>
                  <a:ea typeface="Poppins Bold"/>
                  <a:cs typeface="Poppins Bold"/>
                  <a:sym typeface="Poppins Bold"/>
                </a:rPr>
                <a:t>L2 2021 New York Voter File (1% sample, N ≈ 84,000 voters)</a:t>
              </a:r>
            </a:p>
          </p:txBody>
        </p:sp>
      </p:grpSp>
      <p:grpSp>
        <p:nvGrpSpPr>
          <p:cNvPr id="20" name="Group 20"/>
          <p:cNvGrpSpPr/>
          <p:nvPr/>
        </p:nvGrpSpPr>
        <p:grpSpPr>
          <a:xfrm>
            <a:off x="2185559" y="5771026"/>
            <a:ext cx="15084657" cy="414261"/>
            <a:chOff x="0" y="0"/>
            <a:chExt cx="20112876" cy="552348"/>
          </a:xfrm>
        </p:grpSpPr>
        <p:sp>
          <p:nvSpPr>
            <p:cNvPr id="21" name="Freeform 21"/>
            <p:cNvSpPr/>
            <p:nvPr/>
          </p:nvSpPr>
          <p:spPr>
            <a:xfrm>
              <a:off x="0" y="0"/>
              <a:ext cx="20112872" cy="552342"/>
            </a:xfrm>
            <a:custGeom>
              <a:avLst/>
              <a:gdLst/>
              <a:ahLst/>
              <a:cxnLst/>
              <a:rect l="l" t="t" r="r" b="b"/>
              <a:pathLst>
                <a:path w="20112872" h="552342">
                  <a:moveTo>
                    <a:pt x="0" y="0"/>
                  </a:moveTo>
                  <a:lnTo>
                    <a:pt x="20112872" y="0"/>
                  </a:lnTo>
                  <a:lnTo>
                    <a:pt x="20112872"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22" name="TextBox 22"/>
            <p:cNvSpPr txBox="1"/>
            <p:nvPr/>
          </p:nvSpPr>
          <p:spPr>
            <a:xfrm>
              <a:off x="0" y="-142875"/>
              <a:ext cx="20112876"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Inactive &amp; non-partisan voters excluded for simplicity</a:t>
              </a:r>
            </a:p>
          </p:txBody>
        </p:sp>
      </p:grpSp>
      <p:grpSp>
        <p:nvGrpSpPr>
          <p:cNvPr id="23" name="Group 23"/>
          <p:cNvGrpSpPr/>
          <p:nvPr/>
        </p:nvGrpSpPr>
        <p:grpSpPr>
          <a:xfrm>
            <a:off x="2185559" y="6428118"/>
            <a:ext cx="15084657" cy="414261"/>
            <a:chOff x="0" y="0"/>
            <a:chExt cx="20112876" cy="552348"/>
          </a:xfrm>
        </p:grpSpPr>
        <p:sp>
          <p:nvSpPr>
            <p:cNvPr id="24" name="Freeform 24"/>
            <p:cNvSpPr/>
            <p:nvPr/>
          </p:nvSpPr>
          <p:spPr>
            <a:xfrm>
              <a:off x="0" y="0"/>
              <a:ext cx="20112872" cy="552342"/>
            </a:xfrm>
            <a:custGeom>
              <a:avLst/>
              <a:gdLst/>
              <a:ahLst/>
              <a:cxnLst/>
              <a:rect l="l" t="t" r="r" b="b"/>
              <a:pathLst>
                <a:path w="20112872" h="552342">
                  <a:moveTo>
                    <a:pt x="0" y="0"/>
                  </a:moveTo>
                  <a:lnTo>
                    <a:pt x="20112872" y="0"/>
                  </a:lnTo>
                  <a:lnTo>
                    <a:pt x="20112872"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25" name="TextBox 25"/>
            <p:cNvSpPr txBox="1"/>
            <p:nvPr/>
          </p:nvSpPr>
          <p:spPr>
            <a:xfrm>
              <a:off x="0" y="-142875"/>
              <a:ext cx="20112876"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Education/ethnicity data excluded due to quality issues</a:t>
              </a:r>
            </a:p>
          </p:txBody>
        </p:sp>
      </p:grpSp>
      <p:grpSp>
        <p:nvGrpSpPr>
          <p:cNvPr id="26" name="Group 26"/>
          <p:cNvGrpSpPr/>
          <p:nvPr/>
        </p:nvGrpSpPr>
        <p:grpSpPr>
          <a:xfrm>
            <a:off x="1771307" y="5842444"/>
            <a:ext cx="271405" cy="271405"/>
            <a:chOff x="0" y="0"/>
            <a:chExt cx="361874" cy="361874"/>
          </a:xfrm>
        </p:grpSpPr>
        <p:sp>
          <p:nvSpPr>
            <p:cNvPr id="27" name="Freeform 27"/>
            <p:cNvSpPr/>
            <p:nvPr/>
          </p:nvSpPr>
          <p:spPr>
            <a:xfrm>
              <a:off x="0" y="0"/>
              <a:ext cx="361879" cy="361879"/>
            </a:xfrm>
            <a:custGeom>
              <a:avLst/>
              <a:gdLst/>
              <a:ahLst/>
              <a:cxnLst/>
              <a:rect l="l" t="t" r="r" b="b"/>
              <a:pathLst>
                <a:path w="361879" h="361879">
                  <a:moveTo>
                    <a:pt x="0" y="0"/>
                  </a:moveTo>
                  <a:lnTo>
                    <a:pt x="361879" y="0"/>
                  </a:lnTo>
                  <a:lnTo>
                    <a:pt x="361879" y="361879"/>
                  </a:lnTo>
                  <a:lnTo>
                    <a:pt x="0" y="361879"/>
                  </a:lnTo>
                  <a:close/>
                </a:path>
              </a:pathLst>
            </a:custGeom>
            <a:solidFill>
              <a:srgbClr val="000000">
                <a:alpha val="0"/>
              </a:srgbClr>
            </a:solidFill>
            <a:ln w="12700">
              <a:solidFill>
                <a:srgbClr val="000000"/>
              </a:solidFill>
            </a:ln>
          </p:spPr>
          <p:txBody>
            <a:bodyPr/>
            <a:lstStyle/>
            <a:p>
              <a:endParaRPr lang="en-US"/>
            </a:p>
          </p:txBody>
        </p:sp>
        <p:sp>
          <p:nvSpPr>
            <p:cNvPr id="28" name="TextBox 28"/>
            <p:cNvSpPr txBox="1"/>
            <p:nvPr/>
          </p:nvSpPr>
          <p:spPr>
            <a:xfrm>
              <a:off x="0" y="-19050"/>
              <a:ext cx="361874" cy="380924"/>
            </a:xfrm>
            <a:prstGeom prst="rect">
              <a:avLst/>
            </a:prstGeom>
          </p:spPr>
          <p:txBody>
            <a:bodyPr lIns="0" tIns="0" rIns="0" bIns="0" rtlCol="0" anchor="ctr"/>
            <a:lstStyle/>
            <a:p>
              <a:pPr algn="ctr">
                <a:lnSpc>
                  <a:spcPts val="2564"/>
                </a:lnSpc>
              </a:pPr>
              <a:r>
                <a:rPr lang="en-US" sz="2137">
                  <a:solidFill>
                    <a:srgbClr val="000000"/>
                  </a:solidFill>
                  <a:latin typeface="Poppins"/>
                  <a:ea typeface="Poppins"/>
                  <a:cs typeface="Poppins"/>
                  <a:sym typeface="Poppins"/>
                </a:rPr>
                <a:t>●</a:t>
              </a:r>
            </a:p>
          </p:txBody>
        </p:sp>
      </p:grpSp>
      <p:grpSp>
        <p:nvGrpSpPr>
          <p:cNvPr id="29" name="Group 29"/>
          <p:cNvGrpSpPr/>
          <p:nvPr/>
        </p:nvGrpSpPr>
        <p:grpSpPr>
          <a:xfrm>
            <a:off x="1771307" y="6499546"/>
            <a:ext cx="271405" cy="271405"/>
            <a:chOff x="0" y="0"/>
            <a:chExt cx="361874" cy="361874"/>
          </a:xfrm>
        </p:grpSpPr>
        <p:sp>
          <p:nvSpPr>
            <p:cNvPr id="30" name="Freeform 30"/>
            <p:cNvSpPr/>
            <p:nvPr/>
          </p:nvSpPr>
          <p:spPr>
            <a:xfrm>
              <a:off x="0" y="0"/>
              <a:ext cx="361879" cy="361879"/>
            </a:xfrm>
            <a:custGeom>
              <a:avLst/>
              <a:gdLst/>
              <a:ahLst/>
              <a:cxnLst/>
              <a:rect l="l" t="t" r="r" b="b"/>
              <a:pathLst>
                <a:path w="361879" h="361879">
                  <a:moveTo>
                    <a:pt x="0" y="0"/>
                  </a:moveTo>
                  <a:lnTo>
                    <a:pt x="361879" y="0"/>
                  </a:lnTo>
                  <a:lnTo>
                    <a:pt x="361879" y="361879"/>
                  </a:lnTo>
                  <a:lnTo>
                    <a:pt x="0" y="361879"/>
                  </a:lnTo>
                  <a:close/>
                </a:path>
              </a:pathLst>
            </a:custGeom>
            <a:solidFill>
              <a:srgbClr val="000000">
                <a:alpha val="0"/>
              </a:srgbClr>
            </a:solidFill>
            <a:ln w="12700">
              <a:solidFill>
                <a:srgbClr val="000000"/>
              </a:solidFill>
            </a:ln>
          </p:spPr>
          <p:txBody>
            <a:bodyPr/>
            <a:lstStyle/>
            <a:p>
              <a:endParaRPr lang="en-US"/>
            </a:p>
          </p:txBody>
        </p:sp>
        <p:sp>
          <p:nvSpPr>
            <p:cNvPr id="31" name="TextBox 31"/>
            <p:cNvSpPr txBox="1"/>
            <p:nvPr/>
          </p:nvSpPr>
          <p:spPr>
            <a:xfrm>
              <a:off x="0" y="-19050"/>
              <a:ext cx="361874" cy="380924"/>
            </a:xfrm>
            <a:prstGeom prst="rect">
              <a:avLst/>
            </a:prstGeom>
          </p:spPr>
          <p:txBody>
            <a:bodyPr lIns="0" tIns="0" rIns="0" bIns="0" rtlCol="0" anchor="ctr"/>
            <a:lstStyle/>
            <a:p>
              <a:pPr algn="ctr">
                <a:lnSpc>
                  <a:spcPts val="2564"/>
                </a:lnSpc>
              </a:pPr>
              <a:r>
                <a:rPr lang="en-US" sz="2137">
                  <a:solidFill>
                    <a:srgbClr val="000000"/>
                  </a:solidFill>
                  <a:latin typeface="Poppins"/>
                  <a:ea typeface="Poppins"/>
                  <a:cs typeface="Poppins"/>
                  <a:sym typeface="Poppins"/>
                </a:rPr>
                <a:t>●</a:t>
              </a:r>
            </a:p>
          </p:txBody>
        </p:sp>
      </p:grpSp>
      <p:sp>
        <p:nvSpPr>
          <p:cNvPr id="32" name="Freeform 32"/>
          <p:cNvSpPr/>
          <p:nvPr/>
        </p:nvSpPr>
        <p:spPr>
          <a:xfrm>
            <a:off x="12234655" y="-314263"/>
            <a:ext cx="5842444" cy="10284990"/>
          </a:xfrm>
          <a:custGeom>
            <a:avLst/>
            <a:gdLst/>
            <a:ahLst/>
            <a:cxnLst/>
            <a:rect l="l" t="t" r="r" b="b"/>
            <a:pathLst>
              <a:path w="5842444" h="10284990">
                <a:moveTo>
                  <a:pt x="0" y="0"/>
                </a:moveTo>
                <a:lnTo>
                  <a:pt x="5842444" y="0"/>
                </a:lnTo>
                <a:lnTo>
                  <a:pt x="5842444" y="10284990"/>
                </a:lnTo>
                <a:lnTo>
                  <a:pt x="0" y="10284990"/>
                </a:lnTo>
                <a:lnTo>
                  <a:pt x="0" y="0"/>
                </a:lnTo>
                <a:close/>
              </a:path>
            </a:pathLst>
          </a:custGeom>
          <a:blipFill>
            <a:blip r:embed="rId3"/>
            <a:stretch>
              <a:fillRect t="-1020" r="-1042" b="-1020"/>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sp>
        <p:nvSpPr>
          <p:cNvPr id="6" name="Freeform 6"/>
          <p:cNvSpPr/>
          <p:nvPr/>
        </p:nvSpPr>
        <p:spPr>
          <a:xfrm>
            <a:off x="14288" y="14288"/>
            <a:ext cx="5828157" cy="10242137"/>
          </a:xfrm>
          <a:custGeom>
            <a:avLst/>
            <a:gdLst/>
            <a:ahLst/>
            <a:cxnLst/>
            <a:rect l="l" t="t" r="r" b="b"/>
            <a:pathLst>
              <a:path w="5828157" h="10242137">
                <a:moveTo>
                  <a:pt x="0" y="0"/>
                </a:moveTo>
                <a:lnTo>
                  <a:pt x="5828156" y="0"/>
                </a:lnTo>
                <a:lnTo>
                  <a:pt x="5828156" y="10242137"/>
                </a:lnTo>
                <a:lnTo>
                  <a:pt x="0" y="10242137"/>
                </a:lnTo>
                <a:lnTo>
                  <a:pt x="0" y="0"/>
                </a:lnTo>
                <a:close/>
              </a:path>
            </a:pathLst>
          </a:custGeom>
          <a:blipFill>
            <a:blip r:embed="rId3"/>
            <a:stretch>
              <a:fillRect t="-1020" r="-868" b="-1020"/>
            </a:stretch>
          </a:blipFill>
        </p:spPr>
        <p:txBody>
          <a:bodyPr/>
          <a:lstStyle/>
          <a:p>
            <a:endParaRPr lang="en-US" dirty="0"/>
          </a:p>
        </p:txBody>
      </p:sp>
      <p:grpSp>
        <p:nvGrpSpPr>
          <p:cNvPr id="7" name="Group 7"/>
          <p:cNvGrpSpPr/>
          <p:nvPr/>
        </p:nvGrpSpPr>
        <p:grpSpPr>
          <a:xfrm>
            <a:off x="6842379" y="4171131"/>
            <a:ext cx="3285487" cy="3671173"/>
            <a:chOff x="0" y="0"/>
            <a:chExt cx="4380649" cy="4894898"/>
          </a:xfrm>
        </p:grpSpPr>
        <p:sp>
          <p:nvSpPr>
            <p:cNvPr id="8" name="Freeform 8"/>
            <p:cNvSpPr/>
            <p:nvPr/>
          </p:nvSpPr>
          <p:spPr>
            <a:xfrm>
              <a:off x="0" y="0"/>
              <a:ext cx="4380611" cy="4894834"/>
            </a:xfrm>
            <a:custGeom>
              <a:avLst/>
              <a:gdLst/>
              <a:ahLst/>
              <a:cxnLst/>
              <a:rect l="l" t="t" r="r" b="b"/>
              <a:pathLst>
                <a:path w="4380611" h="4894834">
                  <a:moveTo>
                    <a:pt x="0" y="0"/>
                  </a:moveTo>
                  <a:lnTo>
                    <a:pt x="4380611" y="0"/>
                  </a:lnTo>
                  <a:lnTo>
                    <a:pt x="4380611" y="4894834"/>
                  </a:lnTo>
                  <a:lnTo>
                    <a:pt x="0" y="4894834"/>
                  </a:lnTo>
                  <a:close/>
                </a:path>
              </a:pathLst>
            </a:custGeom>
            <a:solidFill>
              <a:srgbClr val="D6ADAD">
                <a:alpha val="22745"/>
              </a:srgbClr>
            </a:solidFill>
            <a:ln w="12700">
              <a:solidFill>
                <a:srgbClr val="000000"/>
              </a:solidFill>
            </a:ln>
          </p:spPr>
          <p:txBody>
            <a:bodyPr/>
            <a:lstStyle/>
            <a:p>
              <a:endParaRPr lang="en-US"/>
            </a:p>
          </p:txBody>
        </p:sp>
      </p:grpSp>
      <p:grpSp>
        <p:nvGrpSpPr>
          <p:cNvPr id="9" name="Group 9"/>
          <p:cNvGrpSpPr/>
          <p:nvPr/>
        </p:nvGrpSpPr>
        <p:grpSpPr>
          <a:xfrm>
            <a:off x="7113784" y="4442546"/>
            <a:ext cx="842801" cy="842801"/>
            <a:chOff x="0" y="0"/>
            <a:chExt cx="1123734" cy="1123734"/>
          </a:xfrm>
        </p:grpSpPr>
        <p:sp>
          <p:nvSpPr>
            <p:cNvPr id="10" name="Freeform 10"/>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1" name="Group 11"/>
          <p:cNvGrpSpPr/>
          <p:nvPr/>
        </p:nvGrpSpPr>
        <p:grpSpPr>
          <a:xfrm>
            <a:off x="10413549" y="4171131"/>
            <a:ext cx="3285487" cy="3671173"/>
            <a:chOff x="0" y="0"/>
            <a:chExt cx="4380649" cy="4894898"/>
          </a:xfrm>
        </p:grpSpPr>
        <p:sp>
          <p:nvSpPr>
            <p:cNvPr id="12" name="Freeform 12"/>
            <p:cNvSpPr/>
            <p:nvPr/>
          </p:nvSpPr>
          <p:spPr>
            <a:xfrm>
              <a:off x="0" y="0"/>
              <a:ext cx="4380611" cy="4894834"/>
            </a:xfrm>
            <a:custGeom>
              <a:avLst/>
              <a:gdLst/>
              <a:ahLst/>
              <a:cxnLst/>
              <a:rect l="l" t="t" r="r" b="b"/>
              <a:pathLst>
                <a:path w="4380611" h="4894834">
                  <a:moveTo>
                    <a:pt x="0" y="0"/>
                  </a:moveTo>
                  <a:lnTo>
                    <a:pt x="4380611" y="0"/>
                  </a:lnTo>
                  <a:lnTo>
                    <a:pt x="4380611" y="4894834"/>
                  </a:lnTo>
                  <a:lnTo>
                    <a:pt x="0" y="4894834"/>
                  </a:lnTo>
                  <a:close/>
                </a:path>
              </a:pathLst>
            </a:custGeom>
            <a:solidFill>
              <a:srgbClr val="D6ADAD">
                <a:alpha val="22745"/>
              </a:srgbClr>
            </a:solidFill>
            <a:ln w="12700">
              <a:solidFill>
                <a:srgbClr val="000000"/>
              </a:solidFill>
            </a:ln>
          </p:spPr>
          <p:txBody>
            <a:bodyPr/>
            <a:lstStyle/>
            <a:p>
              <a:endParaRPr lang="en-US"/>
            </a:p>
          </p:txBody>
        </p:sp>
      </p:grpSp>
      <p:grpSp>
        <p:nvGrpSpPr>
          <p:cNvPr id="13" name="Group 13"/>
          <p:cNvGrpSpPr/>
          <p:nvPr/>
        </p:nvGrpSpPr>
        <p:grpSpPr>
          <a:xfrm>
            <a:off x="10699252" y="4442546"/>
            <a:ext cx="842801" cy="842801"/>
            <a:chOff x="0" y="0"/>
            <a:chExt cx="1123734" cy="1123734"/>
          </a:xfrm>
        </p:grpSpPr>
        <p:sp>
          <p:nvSpPr>
            <p:cNvPr id="14" name="Freeform 14"/>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5" name="Group 15"/>
          <p:cNvGrpSpPr/>
          <p:nvPr/>
        </p:nvGrpSpPr>
        <p:grpSpPr>
          <a:xfrm>
            <a:off x="13984729" y="4171131"/>
            <a:ext cx="3285487" cy="3671173"/>
            <a:chOff x="0" y="0"/>
            <a:chExt cx="4380649" cy="4894898"/>
          </a:xfrm>
        </p:grpSpPr>
        <p:sp>
          <p:nvSpPr>
            <p:cNvPr id="16" name="Freeform 16"/>
            <p:cNvSpPr/>
            <p:nvPr/>
          </p:nvSpPr>
          <p:spPr>
            <a:xfrm>
              <a:off x="0" y="0"/>
              <a:ext cx="4380611" cy="4894834"/>
            </a:xfrm>
            <a:custGeom>
              <a:avLst/>
              <a:gdLst/>
              <a:ahLst/>
              <a:cxnLst/>
              <a:rect l="l" t="t" r="r" b="b"/>
              <a:pathLst>
                <a:path w="4380611" h="4894834">
                  <a:moveTo>
                    <a:pt x="0" y="0"/>
                  </a:moveTo>
                  <a:lnTo>
                    <a:pt x="4380611" y="0"/>
                  </a:lnTo>
                  <a:lnTo>
                    <a:pt x="4380611" y="4894834"/>
                  </a:lnTo>
                  <a:lnTo>
                    <a:pt x="0" y="4894834"/>
                  </a:lnTo>
                  <a:close/>
                </a:path>
              </a:pathLst>
            </a:custGeom>
            <a:solidFill>
              <a:srgbClr val="D6ADAD">
                <a:alpha val="22745"/>
              </a:srgbClr>
            </a:solidFill>
            <a:ln w="12700">
              <a:solidFill>
                <a:srgbClr val="000000"/>
              </a:solidFill>
            </a:ln>
          </p:spPr>
          <p:txBody>
            <a:bodyPr/>
            <a:lstStyle/>
            <a:p>
              <a:endParaRPr lang="en-US"/>
            </a:p>
          </p:txBody>
        </p:sp>
      </p:grpSp>
      <p:grpSp>
        <p:nvGrpSpPr>
          <p:cNvPr id="17" name="Group 17"/>
          <p:cNvGrpSpPr/>
          <p:nvPr/>
        </p:nvGrpSpPr>
        <p:grpSpPr>
          <a:xfrm>
            <a:off x="14270422" y="4442546"/>
            <a:ext cx="842801" cy="842801"/>
            <a:chOff x="0" y="0"/>
            <a:chExt cx="1123734" cy="1123734"/>
          </a:xfrm>
        </p:grpSpPr>
        <p:sp>
          <p:nvSpPr>
            <p:cNvPr id="18" name="Freeform 18"/>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9" name="Group 19"/>
          <p:cNvGrpSpPr/>
          <p:nvPr/>
        </p:nvGrpSpPr>
        <p:grpSpPr>
          <a:xfrm>
            <a:off x="6842379" y="2414111"/>
            <a:ext cx="10442124" cy="671379"/>
            <a:chOff x="0" y="0"/>
            <a:chExt cx="13922832" cy="895172"/>
          </a:xfrm>
        </p:grpSpPr>
        <p:sp>
          <p:nvSpPr>
            <p:cNvPr id="20" name="Freeform 20"/>
            <p:cNvSpPr/>
            <p:nvPr/>
          </p:nvSpPr>
          <p:spPr>
            <a:xfrm>
              <a:off x="0" y="0"/>
              <a:ext cx="13922831" cy="895175"/>
            </a:xfrm>
            <a:custGeom>
              <a:avLst/>
              <a:gdLst/>
              <a:ahLst/>
              <a:cxnLst/>
              <a:rect l="l" t="t" r="r" b="b"/>
              <a:pathLst>
                <a:path w="13922831" h="895175">
                  <a:moveTo>
                    <a:pt x="0" y="0"/>
                  </a:moveTo>
                  <a:lnTo>
                    <a:pt x="13922831" y="0"/>
                  </a:lnTo>
                  <a:lnTo>
                    <a:pt x="13922831"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21" name="TextBox 21"/>
            <p:cNvSpPr txBox="1"/>
            <p:nvPr/>
          </p:nvSpPr>
          <p:spPr>
            <a:xfrm>
              <a:off x="0" y="-123825"/>
              <a:ext cx="13922832" cy="1018997"/>
            </a:xfrm>
            <a:prstGeom prst="rect">
              <a:avLst/>
            </a:prstGeom>
          </p:spPr>
          <p:txBody>
            <a:bodyPr lIns="0" tIns="0" rIns="0" bIns="0" rtlCol="0" anchor="ctr"/>
            <a:lstStyle/>
            <a:p>
              <a:pPr algn="l">
                <a:lnSpc>
                  <a:spcPts val="6316"/>
                </a:lnSpc>
              </a:pPr>
              <a:r>
                <a:rPr lang="en-US" sz="4386" b="1">
                  <a:solidFill>
                    <a:srgbClr val="4A6FA5"/>
                  </a:solidFill>
                  <a:latin typeface="Ubuntu Bold"/>
                  <a:ea typeface="Ubuntu Bold"/>
                  <a:cs typeface="Ubuntu Bold"/>
                  <a:sym typeface="Ubuntu Bold"/>
                </a:rPr>
                <a:t>What We Expected to Find</a:t>
              </a:r>
            </a:p>
          </p:txBody>
        </p:sp>
      </p:grpSp>
      <p:grpSp>
        <p:nvGrpSpPr>
          <p:cNvPr id="22" name="Group 22"/>
          <p:cNvGrpSpPr/>
          <p:nvPr/>
        </p:nvGrpSpPr>
        <p:grpSpPr>
          <a:xfrm>
            <a:off x="7113784" y="5585317"/>
            <a:ext cx="2714092" cy="499967"/>
            <a:chOff x="0" y="0"/>
            <a:chExt cx="3618789" cy="666623"/>
          </a:xfrm>
        </p:grpSpPr>
        <p:sp>
          <p:nvSpPr>
            <p:cNvPr id="23" name="Freeform 23"/>
            <p:cNvSpPr/>
            <p:nvPr/>
          </p:nvSpPr>
          <p:spPr>
            <a:xfrm>
              <a:off x="0" y="0"/>
              <a:ext cx="3618793" cy="666620"/>
            </a:xfrm>
            <a:custGeom>
              <a:avLst/>
              <a:gdLst/>
              <a:ahLst/>
              <a:cxnLst/>
              <a:rect l="l" t="t" r="r" b="b"/>
              <a:pathLst>
                <a:path w="3618793" h="666620">
                  <a:moveTo>
                    <a:pt x="0" y="0"/>
                  </a:moveTo>
                  <a:lnTo>
                    <a:pt x="3618793" y="0"/>
                  </a:lnTo>
                  <a:lnTo>
                    <a:pt x="361879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4" name="TextBox 24"/>
            <p:cNvSpPr txBox="1"/>
            <p:nvPr/>
          </p:nvSpPr>
          <p:spPr>
            <a:xfrm>
              <a:off x="0" y="-85725"/>
              <a:ext cx="3618789" cy="752348"/>
            </a:xfrm>
            <a:prstGeom prst="rect">
              <a:avLst/>
            </a:prstGeom>
          </p:spPr>
          <p:txBody>
            <a:bodyPr lIns="0" tIns="0" rIns="0" bIns="0" rtlCol="0" anchor="ctr"/>
            <a:lstStyle/>
            <a:p>
              <a:pPr algn="l">
                <a:lnSpc>
                  <a:spcPts val="4697"/>
                </a:lnSpc>
              </a:pPr>
              <a:r>
                <a:rPr lang="en-US" sz="3261" b="1">
                  <a:solidFill>
                    <a:srgbClr val="4A6FA5"/>
                  </a:solidFill>
                  <a:latin typeface="Ubuntu Bold"/>
                  <a:ea typeface="Ubuntu Bold"/>
                  <a:cs typeface="Ubuntu Bold"/>
                  <a:sym typeface="Ubuntu Bold"/>
                </a:rPr>
                <a:t>1. Income</a:t>
              </a:r>
            </a:p>
          </p:txBody>
        </p:sp>
      </p:grpSp>
      <p:grpSp>
        <p:nvGrpSpPr>
          <p:cNvPr id="25" name="Group 25"/>
          <p:cNvGrpSpPr/>
          <p:nvPr/>
        </p:nvGrpSpPr>
        <p:grpSpPr>
          <a:xfrm>
            <a:off x="10699252" y="5585317"/>
            <a:ext cx="2714092" cy="499967"/>
            <a:chOff x="0" y="0"/>
            <a:chExt cx="3618789" cy="666623"/>
          </a:xfrm>
        </p:grpSpPr>
        <p:sp>
          <p:nvSpPr>
            <p:cNvPr id="26" name="Freeform 26"/>
            <p:cNvSpPr/>
            <p:nvPr/>
          </p:nvSpPr>
          <p:spPr>
            <a:xfrm>
              <a:off x="0" y="0"/>
              <a:ext cx="3618793" cy="666620"/>
            </a:xfrm>
            <a:custGeom>
              <a:avLst/>
              <a:gdLst/>
              <a:ahLst/>
              <a:cxnLst/>
              <a:rect l="l" t="t" r="r" b="b"/>
              <a:pathLst>
                <a:path w="3618793" h="666620">
                  <a:moveTo>
                    <a:pt x="0" y="0"/>
                  </a:moveTo>
                  <a:lnTo>
                    <a:pt x="3618793" y="0"/>
                  </a:lnTo>
                  <a:lnTo>
                    <a:pt x="361879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7" name="TextBox 27"/>
            <p:cNvSpPr txBox="1"/>
            <p:nvPr/>
          </p:nvSpPr>
          <p:spPr>
            <a:xfrm>
              <a:off x="0" y="-85725"/>
              <a:ext cx="3618789" cy="752348"/>
            </a:xfrm>
            <a:prstGeom prst="rect">
              <a:avLst/>
            </a:prstGeom>
          </p:spPr>
          <p:txBody>
            <a:bodyPr lIns="0" tIns="0" rIns="0" bIns="0" rtlCol="0" anchor="ctr"/>
            <a:lstStyle/>
            <a:p>
              <a:pPr algn="l">
                <a:lnSpc>
                  <a:spcPts val="4697"/>
                </a:lnSpc>
              </a:pPr>
              <a:r>
                <a:rPr lang="en-US" sz="3261" b="1">
                  <a:solidFill>
                    <a:srgbClr val="4A6FA5"/>
                  </a:solidFill>
                  <a:latin typeface="Ubuntu Bold"/>
                  <a:ea typeface="Ubuntu Bold"/>
                  <a:cs typeface="Ubuntu Bold"/>
                  <a:sym typeface="Ubuntu Bold"/>
                </a:rPr>
                <a:t>2. Age</a:t>
              </a:r>
            </a:p>
          </p:txBody>
        </p:sp>
      </p:grpSp>
      <p:grpSp>
        <p:nvGrpSpPr>
          <p:cNvPr id="28" name="Group 28"/>
          <p:cNvGrpSpPr/>
          <p:nvPr/>
        </p:nvGrpSpPr>
        <p:grpSpPr>
          <a:xfrm>
            <a:off x="14270422" y="5585317"/>
            <a:ext cx="2714092" cy="499967"/>
            <a:chOff x="0" y="0"/>
            <a:chExt cx="3618789" cy="666623"/>
          </a:xfrm>
        </p:grpSpPr>
        <p:sp>
          <p:nvSpPr>
            <p:cNvPr id="29" name="Freeform 29"/>
            <p:cNvSpPr/>
            <p:nvPr/>
          </p:nvSpPr>
          <p:spPr>
            <a:xfrm>
              <a:off x="0" y="0"/>
              <a:ext cx="3618793" cy="666620"/>
            </a:xfrm>
            <a:custGeom>
              <a:avLst/>
              <a:gdLst/>
              <a:ahLst/>
              <a:cxnLst/>
              <a:rect l="l" t="t" r="r" b="b"/>
              <a:pathLst>
                <a:path w="3618793" h="666620">
                  <a:moveTo>
                    <a:pt x="0" y="0"/>
                  </a:moveTo>
                  <a:lnTo>
                    <a:pt x="3618793" y="0"/>
                  </a:lnTo>
                  <a:lnTo>
                    <a:pt x="361879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30" name="TextBox 30"/>
            <p:cNvSpPr txBox="1"/>
            <p:nvPr/>
          </p:nvSpPr>
          <p:spPr>
            <a:xfrm>
              <a:off x="0" y="-85725"/>
              <a:ext cx="3618789" cy="752348"/>
            </a:xfrm>
            <a:prstGeom prst="rect">
              <a:avLst/>
            </a:prstGeom>
          </p:spPr>
          <p:txBody>
            <a:bodyPr lIns="0" tIns="0" rIns="0" bIns="0" rtlCol="0" anchor="ctr"/>
            <a:lstStyle/>
            <a:p>
              <a:pPr algn="l">
                <a:lnSpc>
                  <a:spcPts val="4697"/>
                </a:lnSpc>
              </a:pPr>
              <a:r>
                <a:rPr lang="en-US" sz="3261" b="1">
                  <a:solidFill>
                    <a:srgbClr val="4A6FA5"/>
                  </a:solidFill>
                  <a:latin typeface="Ubuntu Bold"/>
                  <a:ea typeface="Ubuntu Bold"/>
                  <a:cs typeface="Ubuntu Bold"/>
                  <a:sym typeface="Ubuntu Bold"/>
                </a:rPr>
                <a:t>3. Gender</a:t>
              </a:r>
            </a:p>
          </p:txBody>
        </p:sp>
      </p:grpSp>
      <p:grpSp>
        <p:nvGrpSpPr>
          <p:cNvPr id="31" name="Group 31"/>
          <p:cNvGrpSpPr/>
          <p:nvPr/>
        </p:nvGrpSpPr>
        <p:grpSpPr>
          <a:xfrm>
            <a:off x="6842379" y="3414046"/>
            <a:ext cx="10442124" cy="414261"/>
            <a:chOff x="0" y="0"/>
            <a:chExt cx="13922832" cy="552348"/>
          </a:xfrm>
        </p:grpSpPr>
        <p:sp>
          <p:nvSpPr>
            <p:cNvPr id="32" name="Freeform 32"/>
            <p:cNvSpPr/>
            <p:nvPr/>
          </p:nvSpPr>
          <p:spPr>
            <a:xfrm>
              <a:off x="0" y="0"/>
              <a:ext cx="13922831" cy="552342"/>
            </a:xfrm>
            <a:custGeom>
              <a:avLst/>
              <a:gdLst/>
              <a:ahLst/>
              <a:cxnLst/>
              <a:rect l="l" t="t" r="r" b="b"/>
              <a:pathLst>
                <a:path w="13922831" h="552342">
                  <a:moveTo>
                    <a:pt x="0" y="0"/>
                  </a:moveTo>
                  <a:lnTo>
                    <a:pt x="13922831" y="0"/>
                  </a:lnTo>
                  <a:lnTo>
                    <a:pt x="13922831"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33" name="TextBox 33"/>
            <p:cNvSpPr txBox="1"/>
            <p:nvPr/>
          </p:nvSpPr>
          <p:spPr>
            <a:xfrm>
              <a:off x="0" y="-142875"/>
              <a:ext cx="13922832"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Based on socioeconomic theory and prior research, we expected:</a:t>
              </a:r>
            </a:p>
          </p:txBody>
        </p:sp>
      </p:grpSp>
      <p:grpSp>
        <p:nvGrpSpPr>
          <p:cNvPr id="34" name="Group 34"/>
          <p:cNvGrpSpPr/>
          <p:nvPr/>
        </p:nvGrpSpPr>
        <p:grpSpPr>
          <a:xfrm>
            <a:off x="7113784" y="6285271"/>
            <a:ext cx="2714092" cy="1271340"/>
            <a:chOff x="0" y="0"/>
            <a:chExt cx="3618789" cy="1695120"/>
          </a:xfrm>
        </p:grpSpPr>
        <p:sp>
          <p:nvSpPr>
            <p:cNvPr id="35" name="Freeform 35"/>
            <p:cNvSpPr/>
            <p:nvPr/>
          </p:nvSpPr>
          <p:spPr>
            <a:xfrm>
              <a:off x="0" y="0"/>
              <a:ext cx="3618793" cy="1695119"/>
            </a:xfrm>
            <a:custGeom>
              <a:avLst/>
              <a:gdLst/>
              <a:ahLst/>
              <a:cxnLst/>
              <a:rect l="l" t="t" r="r" b="b"/>
              <a:pathLst>
                <a:path w="3618793" h="1695119">
                  <a:moveTo>
                    <a:pt x="0" y="0"/>
                  </a:moveTo>
                  <a:lnTo>
                    <a:pt x="3618793" y="0"/>
                  </a:lnTo>
                  <a:lnTo>
                    <a:pt x="3618793" y="1695119"/>
                  </a:lnTo>
                  <a:lnTo>
                    <a:pt x="0" y="1695119"/>
                  </a:lnTo>
                  <a:close/>
                </a:path>
              </a:pathLst>
            </a:custGeom>
            <a:solidFill>
              <a:srgbClr val="000000">
                <a:alpha val="0"/>
              </a:srgbClr>
            </a:solidFill>
            <a:ln w="12700">
              <a:solidFill>
                <a:srgbClr val="000000"/>
              </a:solidFill>
            </a:ln>
          </p:spPr>
          <p:txBody>
            <a:bodyPr/>
            <a:lstStyle/>
            <a:p>
              <a:endParaRPr lang="en-US"/>
            </a:p>
          </p:txBody>
        </p:sp>
        <p:sp>
          <p:nvSpPr>
            <p:cNvPr id="36" name="TextBox 36"/>
            <p:cNvSpPr txBox="1"/>
            <p:nvPr/>
          </p:nvSpPr>
          <p:spPr>
            <a:xfrm>
              <a:off x="0" y="-142875"/>
              <a:ext cx="3618789" cy="1837995"/>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Strongest predictor of party identification</a:t>
              </a:r>
            </a:p>
          </p:txBody>
        </p:sp>
      </p:grpSp>
      <p:grpSp>
        <p:nvGrpSpPr>
          <p:cNvPr id="37" name="Group 37"/>
          <p:cNvGrpSpPr/>
          <p:nvPr/>
        </p:nvGrpSpPr>
        <p:grpSpPr>
          <a:xfrm>
            <a:off x="10699252" y="6285271"/>
            <a:ext cx="2714092" cy="1271340"/>
            <a:chOff x="0" y="0"/>
            <a:chExt cx="3618789" cy="1695120"/>
          </a:xfrm>
        </p:grpSpPr>
        <p:sp>
          <p:nvSpPr>
            <p:cNvPr id="38" name="Freeform 38"/>
            <p:cNvSpPr/>
            <p:nvPr/>
          </p:nvSpPr>
          <p:spPr>
            <a:xfrm>
              <a:off x="0" y="0"/>
              <a:ext cx="3618793" cy="1695119"/>
            </a:xfrm>
            <a:custGeom>
              <a:avLst/>
              <a:gdLst/>
              <a:ahLst/>
              <a:cxnLst/>
              <a:rect l="l" t="t" r="r" b="b"/>
              <a:pathLst>
                <a:path w="3618793" h="1695119">
                  <a:moveTo>
                    <a:pt x="0" y="0"/>
                  </a:moveTo>
                  <a:lnTo>
                    <a:pt x="3618793" y="0"/>
                  </a:lnTo>
                  <a:lnTo>
                    <a:pt x="3618793" y="1695119"/>
                  </a:lnTo>
                  <a:lnTo>
                    <a:pt x="0" y="1695119"/>
                  </a:lnTo>
                  <a:close/>
                </a:path>
              </a:pathLst>
            </a:custGeom>
            <a:solidFill>
              <a:srgbClr val="000000">
                <a:alpha val="0"/>
              </a:srgbClr>
            </a:solidFill>
            <a:ln w="12700">
              <a:solidFill>
                <a:srgbClr val="000000"/>
              </a:solidFill>
            </a:ln>
          </p:spPr>
          <p:txBody>
            <a:bodyPr/>
            <a:lstStyle/>
            <a:p>
              <a:endParaRPr lang="en-US"/>
            </a:p>
          </p:txBody>
        </p:sp>
        <p:sp>
          <p:nvSpPr>
            <p:cNvPr id="39" name="TextBox 39"/>
            <p:cNvSpPr txBox="1"/>
            <p:nvPr/>
          </p:nvSpPr>
          <p:spPr>
            <a:xfrm>
              <a:off x="0" y="-142875"/>
              <a:ext cx="3618789" cy="1837995"/>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Moderate predictor of party identification</a:t>
              </a:r>
            </a:p>
          </p:txBody>
        </p:sp>
      </p:grpSp>
      <p:grpSp>
        <p:nvGrpSpPr>
          <p:cNvPr id="40" name="Group 40"/>
          <p:cNvGrpSpPr/>
          <p:nvPr/>
        </p:nvGrpSpPr>
        <p:grpSpPr>
          <a:xfrm>
            <a:off x="14270422" y="6285271"/>
            <a:ext cx="2714092" cy="1271340"/>
            <a:chOff x="0" y="0"/>
            <a:chExt cx="3618789" cy="1695120"/>
          </a:xfrm>
        </p:grpSpPr>
        <p:sp>
          <p:nvSpPr>
            <p:cNvPr id="41" name="Freeform 41"/>
            <p:cNvSpPr/>
            <p:nvPr/>
          </p:nvSpPr>
          <p:spPr>
            <a:xfrm>
              <a:off x="0" y="0"/>
              <a:ext cx="3618793" cy="1695119"/>
            </a:xfrm>
            <a:custGeom>
              <a:avLst/>
              <a:gdLst/>
              <a:ahLst/>
              <a:cxnLst/>
              <a:rect l="l" t="t" r="r" b="b"/>
              <a:pathLst>
                <a:path w="3618793" h="1695119">
                  <a:moveTo>
                    <a:pt x="0" y="0"/>
                  </a:moveTo>
                  <a:lnTo>
                    <a:pt x="3618793" y="0"/>
                  </a:lnTo>
                  <a:lnTo>
                    <a:pt x="3618793" y="1695119"/>
                  </a:lnTo>
                  <a:lnTo>
                    <a:pt x="0" y="1695119"/>
                  </a:lnTo>
                  <a:close/>
                </a:path>
              </a:pathLst>
            </a:custGeom>
            <a:solidFill>
              <a:srgbClr val="000000">
                <a:alpha val="0"/>
              </a:srgbClr>
            </a:solidFill>
            <a:ln w="12700">
              <a:solidFill>
                <a:srgbClr val="000000"/>
              </a:solidFill>
            </a:ln>
          </p:spPr>
          <p:txBody>
            <a:bodyPr/>
            <a:lstStyle/>
            <a:p>
              <a:endParaRPr lang="en-US"/>
            </a:p>
          </p:txBody>
        </p:sp>
        <p:sp>
          <p:nvSpPr>
            <p:cNvPr id="42" name="TextBox 42"/>
            <p:cNvSpPr txBox="1"/>
            <p:nvPr/>
          </p:nvSpPr>
          <p:spPr>
            <a:xfrm>
              <a:off x="0" y="-142875"/>
              <a:ext cx="3618789" cy="1837995"/>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Weakest predictor of party identification</a:t>
              </a:r>
            </a:p>
          </p:txBody>
        </p:sp>
      </p:grpSp>
      <p:sp>
        <p:nvSpPr>
          <p:cNvPr id="43" name="Freeform 43"/>
          <p:cNvSpPr/>
          <p:nvPr/>
        </p:nvSpPr>
        <p:spPr>
          <a:xfrm>
            <a:off x="7385199" y="4728239"/>
            <a:ext cx="314268" cy="271405"/>
          </a:xfrm>
          <a:custGeom>
            <a:avLst/>
            <a:gdLst/>
            <a:ahLst/>
            <a:cxnLst/>
            <a:rect l="l" t="t" r="r" b="b"/>
            <a:pathLst>
              <a:path w="314268" h="271405">
                <a:moveTo>
                  <a:pt x="0" y="0"/>
                </a:moveTo>
                <a:lnTo>
                  <a:pt x="314268" y="0"/>
                </a:lnTo>
                <a:lnTo>
                  <a:pt x="314268" y="271405"/>
                </a:lnTo>
                <a:lnTo>
                  <a:pt x="0" y="271405"/>
                </a:lnTo>
                <a:lnTo>
                  <a:pt x="0" y="0"/>
                </a:lnTo>
                <a:close/>
              </a:path>
            </a:pathLst>
          </a:custGeom>
          <a:blipFill>
            <a:blip r:embed="rId4"/>
            <a:stretch>
              <a:fillRect t="-8138" r="-421" b="-8142"/>
            </a:stretch>
          </a:blipFill>
        </p:spPr>
        <p:txBody>
          <a:bodyPr/>
          <a:lstStyle/>
          <a:p>
            <a:endParaRPr lang="en-US"/>
          </a:p>
        </p:txBody>
      </p:sp>
      <p:sp>
        <p:nvSpPr>
          <p:cNvPr id="44" name="Freeform 44"/>
          <p:cNvSpPr/>
          <p:nvPr/>
        </p:nvSpPr>
        <p:spPr>
          <a:xfrm>
            <a:off x="10942091" y="4728239"/>
            <a:ext cx="342833" cy="271405"/>
          </a:xfrm>
          <a:custGeom>
            <a:avLst/>
            <a:gdLst/>
            <a:ahLst/>
            <a:cxnLst/>
            <a:rect l="l" t="t" r="r" b="b"/>
            <a:pathLst>
              <a:path w="342833" h="271405">
                <a:moveTo>
                  <a:pt x="0" y="0"/>
                </a:moveTo>
                <a:lnTo>
                  <a:pt x="342834" y="0"/>
                </a:lnTo>
                <a:lnTo>
                  <a:pt x="342834" y="271405"/>
                </a:lnTo>
                <a:lnTo>
                  <a:pt x="0" y="271405"/>
                </a:lnTo>
                <a:lnTo>
                  <a:pt x="0" y="0"/>
                </a:lnTo>
                <a:close/>
              </a:path>
            </a:pathLst>
          </a:custGeom>
          <a:blipFill>
            <a:blip r:embed="rId5"/>
            <a:stretch>
              <a:fillRect t="-14101" r="-1494" b="-14104"/>
            </a:stretch>
          </a:blipFill>
        </p:spPr>
        <p:txBody>
          <a:bodyPr/>
          <a:lstStyle/>
          <a:p>
            <a:endParaRPr lang="en-US"/>
          </a:p>
        </p:txBody>
      </p:sp>
      <p:sp>
        <p:nvSpPr>
          <p:cNvPr id="45" name="Freeform 45"/>
          <p:cNvSpPr/>
          <p:nvPr/>
        </p:nvSpPr>
        <p:spPr>
          <a:xfrm>
            <a:off x="14527549" y="4728239"/>
            <a:ext cx="342833" cy="271405"/>
          </a:xfrm>
          <a:custGeom>
            <a:avLst/>
            <a:gdLst/>
            <a:ahLst/>
            <a:cxnLst/>
            <a:rect l="l" t="t" r="r" b="b"/>
            <a:pathLst>
              <a:path w="342833" h="271405">
                <a:moveTo>
                  <a:pt x="0" y="0"/>
                </a:moveTo>
                <a:lnTo>
                  <a:pt x="342833" y="0"/>
                </a:lnTo>
                <a:lnTo>
                  <a:pt x="342833" y="271405"/>
                </a:lnTo>
                <a:lnTo>
                  <a:pt x="0" y="271405"/>
                </a:lnTo>
                <a:lnTo>
                  <a:pt x="0" y="0"/>
                </a:lnTo>
                <a:close/>
              </a:path>
            </a:pathLst>
          </a:custGeom>
          <a:blipFill>
            <a:blip r:embed="rId6"/>
            <a:stretch>
              <a:fillRect t="-14101" r="-1494" b="-14104"/>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3585458"/>
            <a:ext cx="5242493" cy="4099712"/>
            <a:chOff x="0" y="0"/>
            <a:chExt cx="6989991" cy="5466283"/>
          </a:xfrm>
        </p:grpSpPr>
        <p:sp>
          <p:nvSpPr>
            <p:cNvPr id="7" name="Freeform 7"/>
            <p:cNvSpPr/>
            <p:nvPr/>
          </p:nvSpPr>
          <p:spPr>
            <a:xfrm>
              <a:off x="0" y="0"/>
              <a:ext cx="6989953" cy="5466334"/>
            </a:xfrm>
            <a:custGeom>
              <a:avLst/>
              <a:gdLst/>
              <a:ahLst/>
              <a:cxnLst/>
              <a:rect l="l" t="t" r="r" b="b"/>
              <a:pathLst>
                <a:path w="6989953" h="5466334">
                  <a:moveTo>
                    <a:pt x="0" y="0"/>
                  </a:moveTo>
                  <a:lnTo>
                    <a:pt x="6989953" y="0"/>
                  </a:lnTo>
                  <a:lnTo>
                    <a:pt x="6989953" y="5466334"/>
                  </a:lnTo>
                  <a:lnTo>
                    <a:pt x="0" y="5466334"/>
                  </a:lnTo>
                  <a:close/>
                </a:path>
              </a:pathLst>
            </a:custGeom>
            <a:solidFill>
              <a:srgbClr val="D6ADAD">
                <a:alpha val="22745"/>
              </a:srgbClr>
            </a:solidFill>
            <a:ln w="12700">
              <a:solidFill>
                <a:srgbClr val="000000"/>
              </a:solidFill>
            </a:ln>
          </p:spPr>
          <p:txBody>
            <a:bodyPr/>
            <a:lstStyle/>
            <a:p>
              <a:endParaRPr lang="en-US"/>
            </a:p>
          </p:txBody>
        </p:sp>
      </p:grpSp>
      <p:grpSp>
        <p:nvGrpSpPr>
          <p:cNvPr id="8" name="Group 8"/>
          <p:cNvGrpSpPr/>
          <p:nvPr/>
        </p:nvGrpSpPr>
        <p:grpSpPr>
          <a:xfrm>
            <a:off x="1271340" y="3856873"/>
            <a:ext cx="842801" cy="842801"/>
            <a:chOff x="0" y="0"/>
            <a:chExt cx="1123734" cy="1123734"/>
          </a:xfrm>
        </p:grpSpPr>
        <p:sp>
          <p:nvSpPr>
            <p:cNvPr id="9" name="Freeform 9"/>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0" name="Group 10"/>
          <p:cNvGrpSpPr/>
          <p:nvPr/>
        </p:nvGrpSpPr>
        <p:grpSpPr>
          <a:xfrm>
            <a:off x="6513824" y="3585458"/>
            <a:ext cx="5242493" cy="4099712"/>
            <a:chOff x="0" y="0"/>
            <a:chExt cx="6989991" cy="5466283"/>
          </a:xfrm>
        </p:grpSpPr>
        <p:sp>
          <p:nvSpPr>
            <p:cNvPr id="11" name="Freeform 11"/>
            <p:cNvSpPr/>
            <p:nvPr/>
          </p:nvSpPr>
          <p:spPr>
            <a:xfrm>
              <a:off x="0" y="0"/>
              <a:ext cx="6989953" cy="5466334"/>
            </a:xfrm>
            <a:custGeom>
              <a:avLst/>
              <a:gdLst/>
              <a:ahLst/>
              <a:cxnLst/>
              <a:rect l="l" t="t" r="r" b="b"/>
              <a:pathLst>
                <a:path w="6989953" h="5466334">
                  <a:moveTo>
                    <a:pt x="0" y="0"/>
                  </a:moveTo>
                  <a:lnTo>
                    <a:pt x="6989953" y="0"/>
                  </a:lnTo>
                  <a:lnTo>
                    <a:pt x="6989953" y="5466334"/>
                  </a:lnTo>
                  <a:lnTo>
                    <a:pt x="0" y="5466334"/>
                  </a:lnTo>
                  <a:close/>
                </a:path>
              </a:pathLst>
            </a:custGeom>
            <a:solidFill>
              <a:srgbClr val="D6ADAD">
                <a:alpha val="22745"/>
              </a:srgbClr>
            </a:solidFill>
            <a:ln w="12700">
              <a:solidFill>
                <a:srgbClr val="000000"/>
              </a:solidFill>
            </a:ln>
          </p:spPr>
          <p:txBody>
            <a:bodyPr/>
            <a:lstStyle/>
            <a:p>
              <a:endParaRPr lang="en-US"/>
            </a:p>
          </p:txBody>
        </p:sp>
      </p:grpSp>
      <p:grpSp>
        <p:nvGrpSpPr>
          <p:cNvPr id="12" name="Group 12"/>
          <p:cNvGrpSpPr/>
          <p:nvPr/>
        </p:nvGrpSpPr>
        <p:grpSpPr>
          <a:xfrm>
            <a:off x="6799526" y="3856873"/>
            <a:ext cx="842801" cy="842801"/>
            <a:chOff x="0" y="0"/>
            <a:chExt cx="1123734" cy="1123734"/>
          </a:xfrm>
        </p:grpSpPr>
        <p:sp>
          <p:nvSpPr>
            <p:cNvPr id="13" name="Freeform 13"/>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4" name="Group 14"/>
          <p:cNvGrpSpPr/>
          <p:nvPr/>
        </p:nvGrpSpPr>
        <p:grpSpPr>
          <a:xfrm>
            <a:off x="12042010" y="3585458"/>
            <a:ext cx="5242493" cy="4099712"/>
            <a:chOff x="0" y="0"/>
            <a:chExt cx="6989991" cy="5466283"/>
          </a:xfrm>
        </p:grpSpPr>
        <p:sp>
          <p:nvSpPr>
            <p:cNvPr id="15" name="Freeform 15"/>
            <p:cNvSpPr/>
            <p:nvPr/>
          </p:nvSpPr>
          <p:spPr>
            <a:xfrm>
              <a:off x="0" y="0"/>
              <a:ext cx="6989953" cy="5466334"/>
            </a:xfrm>
            <a:custGeom>
              <a:avLst/>
              <a:gdLst/>
              <a:ahLst/>
              <a:cxnLst/>
              <a:rect l="l" t="t" r="r" b="b"/>
              <a:pathLst>
                <a:path w="6989953" h="5466334">
                  <a:moveTo>
                    <a:pt x="0" y="0"/>
                  </a:moveTo>
                  <a:lnTo>
                    <a:pt x="6989953" y="0"/>
                  </a:lnTo>
                  <a:lnTo>
                    <a:pt x="6989953" y="5466334"/>
                  </a:lnTo>
                  <a:lnTo>
                    <a:pt x="0" y="5466334"/>
                  </a:lnTo>
                  <a:close/>
                </a:path>
              </a:pathLst>
            </a:custGeom>
            <a:solidFill>
              <a:srgbClr val="D6ADAD">
                <a:alpha val="22745"/>
              </a:srgbClr>
            </a:solidFill>
            <a:ln w="12700">
              <a:solidFill>
                <a:srgbClr val="000000"/>
              </a:solidFill>
            </a:ln>
          </p:spPr>
          <p:txBody>
            <a:bodyPr/>
            <a:lstStyle/>
            <a:p>
              <a:endParaRPr lang="en-US"/>
            </a:p>
          </p:txBody>
        </p:sp>
      </p:grpSp>
      <p:grpSp>
        <p:nvGrpSpPr>
          <p:cNvPr id="16" name="Group 16"/>
          <p:cNvGrpSpPr/>
          <p:nvPr/>
        </p:nvGrpSpPr>
        <p:grpSpPr>
          <a:xfrm>
            <a:off x="12327703" y="3856873"/>
            <a:ext cx="842801" cy="842801"/>
            <a:chOff x="0" y="0"/>
            <a:chExt cx="1123734" cy="1123734"/>
          </a:xfrm>
        </p:grpSpPr>
        <p:sp>
          <p:nvSpPr>
            <p:cNvPr id="17" name="Freeform 17"/>
            <p:cNvSpPr/>
            <p:nvPr/>
          </p:nvSpPr>
          <p:spPr>
            <a:xfrm>
              <a:off x="0" y="0"/>
              <a:ext cx="1123696" cy="1123696"/>
            </a:xfrm>
            <a:custGeom>
              <a:avLst/>
              <a:gdLst/>
              <a:ahLst/>
              <a:cxnLst/>
              <a:rect l="l" t="t" r="r" b="b"/>
              <a:pathLst>
                <a:path w="1123696" h="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txBody>
            <a:bodyPr/>
            <a:lstStyle/>
            <a:p>
              <a:endParaRPr lang="en-US"/>
            </a:p>
          </p:txBody>
        </p:sp>
      </p:grpSp>
      <p:grpSp>
        <p:nvGrpSpPr>
          <p:cNvPr id="18" name="Group 18"/>
          <p:cNvGrpSpPr/>
          <p:nvPr/>
        </p:nvGrpSpPr>
        <p:grpSpPr>
          <a:xfrm>
            <a:off x="985647" y="2585533"/>
            <a:ext cx="16298856" cy="671379"/>
            <a:chOff x="0" y="0"/>
            <a:chExt cx="21731808" cy="895172"/>
          </a:xfrm>
        </p:grpSpPr>
        <p:sp>
          <p:nvSpPr>
            <p:cNvPr id="19" name="Freeform 19"/>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Our Hypothesis</a:t>
              </a:r>
            </a:p>
          </p:txBody>
        </p:sp>
      </p:grpSp>
      <p:grpSp>
        <p:nvGrpSpPr>
          <p:cNvPr id="21" name="Group 21"/>
          <p:cNvGrpSpPr/>
          <p:nvPr/>
        </p:nvGrpSpPr>
        <p:grpSpPr>
          <a:xfrm>
            <a:off x="1271340" y="4999644"/>
            <a:ext cx="4671098" cy="499967"/>
            <a:chOff x="0" y="0"/>
            <a:chExt cx="6228131" cy="666623"/>
          </a:xfrm>
        </p:grpSpPr>
        <p:sp>
          <p:nvSpPr>
            <p:cNvPr id="22" name="Freeform 22"/>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3" name="TextBox 23"/>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1. Income</a:t>
              </a:r>
            </a:p>
          </p:txBody>
        </p:sp>
      </p:grpSp>
      <p:grpSp>
        <p:nvGrpSpPr>
          <p:cNvPr id="24" name="Group 24"/>
          <p:cNvGrpSpPr/>
          <p:nvPr/>
        </p:nvGrpSpPr>
        <p:grpSpPr>
          <a:xfrm>
            <a:off x="6799526" y="4999644"/>
            <a:ext cx="4671098" cy="499967"/>
            <a:chOff x="0" y="0"/>
            <a:chExt cx="6228131" cy="666623"/>
          </a:xfrm>
        </p:grpSpPr>
        <p:sp>
          <p:nvSpPr>
            <p:cNvPr id="25" name="Freeform 25"/>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6" name="TextBox 26"/>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2. Age</a:t>
              </a:r>
            </a:p>
          </p:txBody>
        </p:sp>
      </p:grpSp>
      <p:grpSp>
        <p:nvGrpSpPr>
          <p:cNvPr id="27" name="Group 27"/>
          <p:cNvGrpSpPr/>
          <p:nvPr/>
        </p:nvGrpSpPr>
        <p:grpSpPr>
          <a:xfrm>
            <a:off x="12327703" y="4999644"/>
            <a:ext cx="4671098" cy="499967"/>
            <a:chOff x="0" y="0"/>
            <a:chExt cx="6228131" cy="666623"/>
          </a:xfrm>
        </p:grpSpPr>
        <p:sp>
          <p:nvSpPr>
            <p:cNvPr id="28" name="Freeform 28"/>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9" name="TextBox 29"/>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3. Gender</a:t>
              </a:r>
            </a:p>
          </p:txBody>
        </p:sp>
      </p:grpSp>
      <p:grpSp>
        <p:nvGrpSpPr>
          <p:cNvPr id="30" name="Group 30"/>
          <p:cNvGrpSpPr/>
          <p:nvPr/>
        </p:nvGrpSpPr>
        <p:grpSpPr>
          <a:xfrm>
            <a:off x="1271340" y="5699598"/>
            <a:ext cx="4671098" cy="1699879"/>
            <a:chOff x="0" y="0"/>
            <a:chExt cx="6228131" cy="2266506"/>
          </a:xfrm>
        </p:grpSpPr>
        <p:sp>
          <p:nvSpPr>
            <p:cNvPr id="31" name="Freeform 31"/>
            <p:cNvSpPr/>
            <p:nvPr/>
          </p:nvSpPr>
          <p:spPr>
            <a:xfrm>
              <a:off x="0" y="0"/>
              <a:ext cx="6228133" cy="2266507"/>
            </a:xfrm>
            <a:custGeom>
              <a:avLst/>
              <a:gdLst/>
              <a:ahLst/>
              <a:cxnLst/>
              <a:rect l="l" t="t" r="r" b="b"/>
              <a:pathLst>
                <a:path w="6228133" h="2266507">
                  <a:moveTo>
                    <a:pt x="0" y="0"/>
                  </a:moveTo>
                  <a:lnTo>
                    <a:pt x="6228133" y="0"/>
                  </a:lnTo>
                  <a:lnTo>
                    <a:pt x="6228133"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32" name="TextBox 32"/>
            <p:cNvSpPr txBox="1"/>
            <p:nvPr/>
          </p:nvSpPr>
          <p:spPr>
            <a:xfrm>
              <a:off x="0" y="-142875"/>
              <a:ext cx="6228131"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Hypothesized as strongest predictor of party affiliation based on socioeconomic status theories</a:t>
              </a:r>
            </a:p>
          </p:txBody>
        </p:sp>
      </p:grpSp>
      <p:grpSp>
        <p:nvGrpSpPr>
          <p:cNvPr id="33" name="Group 33"/>
          <p:cNvGrpSpPr/>
          <p:nvPr/>
        </p:nvGrpSpPr>
        <p:grpSpPr>
          <a:xfrm>
            <a:off x="6799526" y="5699598"/>
            <a:ext cx="4671098" cy="1271340"/>
            <a:chOff x="0" y="0"/>
            <a:chExt cx="6228131" cy="1695120"/>
          </a:xfrm>
        </p:grpSpPr>
        <p:sp>
          <p:nvSpPr>
            <p:cNvPr id="34" name="Freeform 34"/>
            <p:cNvSpPr/>
            <p:nvPr/>
          </p:nvSpPr>
          <p:spPr>
            <a:xfrm>
              <a:off x="0" y="0"/>
              <a:ext cx="6228133" cy="1695119"/>
            </a:xfrm>
            <a:custGeom>
              <a:avLst/>
              <a:gdLst/>
              <a:ahLst/>
              <a:cxnLst/>
              <a:rect l="l" t="t" r="r" b="b"/>
              <a:pathLst>
                <a:path w="6228133" h="1695119">
                  <a:moveTo>
                    <a:pt x="0" y="0"/>
                  </a:moveTo>
                  <a:lnTo>
                    <a:pt x="6228133" y="0"/>
                  </a:lnTo>
                  <a:lnTo>
                    <a:pt x="6228133" y="1695119"/>
                  </a:lnTo>
                  <a:lnTo>
                    <a:pt x="0" y="1695119"/>
                  </a:lnTo>
                  <a:close/>
                </a:path>
              </a:pathLst>
            </a:custGeom>
            <a:solidFill>
              <a:srgbClr val="000000">
                <a:alpha val="0"/>
              </a:srgbClr>
            </a:solidFill>
            <a:ln w="12700">
              <a:solidFill>
                <a:srgbClr val="000000"/>
              </a:solidFill>
            </a:ln>
          </p:spPr>
          <p:txBody>
            <a:bodyPr/>
            <a:lstStyle/>
            <a:p>
              <a:endParaRPr lang="en-US"/>
            </a:p>
          </p:txBody>
        </p:sp>
        <p:sp>
          <p:nvSpPr>
            <p:cNvPr id="35" name="TextBox 35"/>
            <p:cNvSpPr txBox="1"/>
            <p:nvPr/>
          </p:nvSpPr>
          <p:spPr>
            <a:xfrm>
              <a:off x="0" y="-142875"/>
              <a:ext cx="6228131" cy="1837995"/>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Hypothesized as moderate predictor due to generational political socialization patterns</a:t>
              </a:r>
            </a:p>
          </p:txBody>
        </p:sp>
      </p:grpSp>
      <p:grpSp>
        <p:nvGrpSpPr>
          <p:cNvPr id="36" name="Group 36"/>
          <p:cNvGrpSpPr/>
          <p:nvPr/>
        </p:nvGrpSpPr>
        <p:grpSpPr>
          <a:xfrm>
            <a:off x="12327703" y="5699598"/>
            <a:ext cx="4671098" cy="1699879"/>
            <a:chOff x="0" y="0"/>
            <a:chExt cx="6228131" cy="2266506"/>
          </a:xfrm>
        </p:grpSpPr>
        <p:sp>
          <p:nvSpPr>
            <p:cNvPr id="37" name="Freeform 37"/>
            <p:cNvSpPr/>
            <p:nvPr/>
          </p:nvSpPr>
          <p:spPr>
            <a:xfrm>
              <a:off x="0" y="0"/>
              <a:ext cx="6228133" cy="2266507"/>
            </a:xfrm>
            <a:custGeom>
              <a:avLst/>
              <a:gdLst/>
              <a:ahLst/>
              <a:cxnLst/>
              <a:rect l="l" t="t" r="r" b="b"/>
              <a:pathLst>
                <a:path w="6228133" h="2266507">
                  <a:moveTo>
                    <a:pt x="0" y="0"/>
                  </a:moveTo>
                  <a:lnTo>
                    <a:pt x="6228133" y="0"/>
                  </a:lnTo>
                  <a:lnTo>
                    <a:pt x="6228133"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38" name="TextBox 38"/>
            <p:cNvSpPr txBox="1"/>
            <p:nvPr/>
          </p:nvSpPr>
          <p:spPr>
            <a:xfrm>
              <a:off x="0" y="-142875"/>
              <a:ext cx="6228131"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Hypothesized as weakest predictor given recent convergence in political attitudes</a:t>
              </a:r>
            </a:p>
          </p:txBody>
        </p:sp>
      </p:grpSp>
      <p:sp>
        <p:nvSpPr>
          <p:cNvPr id="39" name="Freeform 39"/>
          <p:cNvSpPr/>
          <p:nvPr/>
        </p:nvSpPr>
        <p:spPr>
          <a:xfrm>
            <a:off x="1599886" y="4142565"/>
            <a:ext cx="171412" cy="271405"/>
          </a:xfrm>
          <a:custGeom>
            <a:avLst/>
            <a:gdLst/>
            <a:ahLst/>
            <a:cxnLst/>
            <a:rect l="l" t="t" r="r" b="b"/>
            <a:pathLst>
              <a:path w="171412" h="271405">
                <a:moveTo>
                  <a:pt x="0" y="0"/>
                </a:moveTo>
                <a:lnTo>
                  <a:pt x="171412" y="0"/>
                </a:lnTo>
                <a:lnTo>
                  <a:pt x="171412" y="271406"/>
                </a:lnTo>
                <a:lnTo>
                  <a:pt x="0" y="271406"/>
                </a:lnTo>
                <a:lnTo>
                  <a:pt x="0" y="0"/>
                </a:lnTo>
                <a:close/>
              </a:path>
            </a:pathLst>
          </a:custGeom>
          <a:blipFill>
            <a:blip r:embed="rId3"/>
            <a:stretch>
              <a:fillRect l="-30645" r="-30651" b="-1870"/>
            </a:stretch>
          </a:blipFill>
        </p:spPr>
        <p:txBody>
          <a:bodyPr/>
          <a:lstStyle/>
          <a:p>
            <a:endParaRPr lang="en-US"/>
          </a:p>
        </p:txBody>
      </p:sp>
      <p:sp>
        <p:nvSpPr>
          <p:cNvPr id="40" name="Freeform 40"/>
          <p:cNvSpPr/>
          <p:nvPr/>
        </p:nvSpPr>
        <p:spPr>
          <a:xfrm>
            <a:off x="7099497" y="4142565"/>
            <a:ext cx="242840" cy="271405"/>
          </a:xfrm>
          <a:custGeom>
            <a:avLst/>
            <a:gdLst/>
            <a:ahLst/>
            <a:cxnLst/>
            <a:rect l="l" t="t" r="r" b="b"/>
            <a:pathLst>
              <a:path w="242840" h="271405">
                <a:moveTo>
                  <a:pt x="0" y="0"/>
                </a:moveTo>
                <a:lnTo>
                  <a:pt x="242840" y="0"/>
                </a:lnTo>
                <a:lnTo>
                  <a:pt x="242840" y="271406"/>
                </a:lnTo>
                <a:lnTo>
                  <a:pt x="0" y="271406"/>
                </a:lnTo>
                <a:lnTo>
                  <a:pt x="0" y="0"/>
                </a:lnTo>
                <a:close/>
              </a:path>
            </a:pathLst>
          </a:custGeom>
          <a:blipFill>
            <a:blip r:embed="rId4"/>
            <a:stretch>
              <a:fillRect l="-6817" r="-6820" b="-1677"/>
            </a:stretch>
          </a:blipFill>
        </p:spPr>
        <p:txBody>
          <a:bodyPr/>
          <a:lstStyle/>
          <a:p>
            <a:endParaRPr lang="en-US"/>
          </a:p>
        </p:txBody>
      </p:sp>
      <p:sp>
        <p:nvSpPr>
          <p:cNvPr id="41" name="Freeform 41"/>
          <p:cNvSpPr/>
          <p:nvPr/>
        </p:nvSpPr>
        <p:spPr>
          <a:xfrm>
            <a:off x="12570543" y="4142565"/>
            <a:ext cx="342833" cy="271405"/>
          </a:xfrm>
          <a:custGeom>
            <a:avLst/>
            <a:gdLst/>
            <a:ahLst/>
            <a:cxnLst/>
            <a:rect l="l" t="t" r="r" b="b"/>
            <a:pathLst>
              <a:path w="342833" h="271405">
                <a:moveTo>
                  <a:pt x="0" y="0"/>
                </a:moveTo>
                <a:lnTo>
                  <a:pt x="342833" y="0"/>
                </a:lnTo>
                <a:lnTo>
                  <a:pt x="342833" y="271406"/>
                </a:lnTo>
                <a:lnTo>
                  <a:pt x="0" y="271406"/>
                </a:lnTo>
                <a:lnTo>
                  <a:pt x="0" y="0"/>
                </a:lnTo>
                <a:close/>
              </a:path>
            </a:pathLst>
          </a:custGeom>
          <a:blipFill>
            <a:blip r:embed="rId5"/>
            <a:stretch>
              <a:fillRect t="-14101" r="-1494" b="-14104"/>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dirty="0"/>
          </a:p>
        </p:txBody>
      </p:sp>
      <p:sp>
        <p:nvSpPr>
          <p:cNvPr id="6" name="Freeform 6"/>
          <p:cNvSpPr/>
          <p:nvPr/>
        </p:nvSpPr>
        <p:spPr>
          <a:xfrm>
            <a:off x="985647" y="3971153"/>
            <a:ext cx="4071147" cy="1114206"/>
          </a:xfrm>
          <a:custGeom>
            <a:avLst/>
            <a:gdLst/>
            <a:ahLst/>
            <a:cxnLst/>
            <a:rect l="l" t="t" r="r" b="b"/>
            <a:pathLst>
              <a:path w="4071147" h="1114206">
                <a:moveTo>
                  <a:pt x="0" y="0"/>
                </a:moveTo>
                <a:lnTo>
                  <a:pt x="4071147" y="0"/>
                </a:lnTo>
                <a:lnTo>
                  <a:pt x="4071147" y="1114206"/>
                </a:lnTo>
                <a:lnTo>
                  <a:pt x="0" y="1114206"/>
                </a:lnTo>
                <a:lnTo>
                  <a:pt x="0" y="0"/>
                </a:lnTo>
                <a:close/>
              </a:path>
            </a:pathLst>
          </a:custGeom>
          <a:blipFill>
            <a:blip r:embed="rId3"/>
            <a:stretch>
              <a:fillRect t="-966" b="-965"/>
            </a:stretch>
          </a:blipFill>
        </p:spPr>
        <p:txBody>
          <a:bodyPr/>
          <a:lstStyle/>
          <a:p>
            <a:endParaRPr lang="en-US"/>
          </a:p>
        </p:txBody>
      </p:sp>
      <p:sp>
        <p:nvSpPr>
          <p:cNvPr id="7" name="Freeform 7"/>
          <p:cNvSpPr/>
          <p:nvPr/>
        </p:nvSpPr>
        <p:spPr>
          <a:xfrm>
            <a:off x="5056784" y="3971153"/>
            <a:ext cx="4071147" cy="1114206"/>
          </a:xfrm>
          <a:custGeom>
            <a:avLst/>
            <a:gdLst/>
            <a:ahLst/>
            <a:cxnLst/>
            <a:rect l="l" t="t" r="r" b="b"/>
            <a:pathLst>
              <a:path w="4071147" h="1114206">
                <a:moveTo>
                  <a:pt x="0" y="0"/>
                </a:moveTo>
                <a:lnTo>
                  <a:pt x="4071147" y="0"/>
                </a:lnTo>
                <a:lnTo>
                  <a:pt x="4071147" y="1114206"/>
                </a:lnTo>
                <a:lnTo>
                  <a:pt x="0" y="1114206"/>
                </a:lnTo>
                <a:lnTo>
                  <a:pt x="0" y="0"/>
                </a:lnTo>
                <a:close/>
              </a:path>
            </a:pathLst>
          </a:custGeom>
          <a:blipFill>
            <a:blip r:embed="rId3"/>
            <a:stretch>
              <a:fillRect t="-966" b="-965"/>
            </a:stretch>
          </a:blipFill>
        </p:spPr>
        <p:txBody>
          <a:bodyPr/>
          <a:lstStyle/>
          <a:p>
            <a:endParaRPr lang="en-US"/>
          </a:p>
        </p:txBody>
      </p:sp>
      <p:sp>
        <p:nvSpPr>
          <p:cNvPr id="8" name="Freeform 8"/>
          <p:cNvSpPr/>
          <p:nvPr/>
        </p:nvSpPr>
        <p:spPr>
          <a:xfrm>
            <a:off x="9127931" y="3971153"/>
            <a:ext cx="4071147" cy="1114206"/>
          </a:xfrm>
          <a:custGeom>
            <a:avLst/>
            <a:gdLst/>
            <a:ahLst/>
            <a:cxnLst/>
            <a:rect l="l" t="t" r="r" b="b"/>
            <a:pathLst>
              <a:path w="4071147" h="1114206">
                <a:moveTo>
                  <a:pt x="0" y="0"/>
                </a:moveTo>
                <a:lnTo>
                  <a:pt x="4071147" y="0"/>
                </a:lnTo>
                <a:lnTo>
                  <a:pt x="4071147" y="1114206"/>
                </a:lnTo>
                <a:lnTo>
                  <a:pt x="0" y="1114206"/>
                </a:lnTo>
                <a:lnTo>
                  <a:pt x="0" y="0"/>
                </a:lnTo>
                <a:close/>
              </a:path>
            </a:pathLst>
          </a:custGeom>
          <a:blipFill>
            <a:blip r:embed="rId3"/>
            <a:stretch>
              <a:fillRect t="-966" b="-965"/>
            </a:stretch>
          </a:blipFill>
        </p:spPr>
        <p:txBody>
          <a:bodyPr/>
          <a:lstStyle/>
          <a:p>
            <a:endParaRPr lang="en-US"/>
          </a:p>
        </p:txBody>
      </p:sp>
      <p:sp>
        <p:nvSpPr>
          <p:cNvPr id="9" name="Freeform 9"/>
          <p:cNvSpPr/>
          <p:nvPr/>
        </p:nvSpPr>
        <p:spPr>
          <a:xfrm>
            <a:off x="13213356" y="3971153"/>
            <a:ext cx="4071147" cy="1114206"/>
          </a:xfrm>
          <a:custGeom>
            <a:avLst/>
            <a:gdLst/>
            <a:ahLst/>
            <a:cxnLst/>
            <a:rect l="l" t="t" r="r" b="b"/>
            <a:pathLst>
              <a:path w="4071147" h="1114206">
                <a:moveTo>
                  <a:pt x="0" y="0"/>
                </a:moveTo>
                <a:lnTo>
                  <a:pt x="4071147" y="0"/>
                </a:lnTo>
                <a:lnTo>
                  <a:pt x="4071147" y="1114206"/>
                </a:lnTo>
                <a:lnTo>
                  <a:pt x="0" y="1114206"/>
                </a:lnTo>
                <a:lnTo>
                  <a:pt x="0" y="0"/>
                </a:lnTo>
                <a:close/>
              </a:path>
            </a:pathLst>
          </a:custGeom>
          <a:blipFill>
            <a:blip r:embed="rId3"/>
            <a:stretch>
              <a:fillRect t="-966" b="-965"/>
            </a:stretch>
          </a:blipFill>
        </p:spPr>
        <p:txBody>
          <a:bodyPr/>
          <a:lstStyle/>
          <a:p>
            <a:endParaRPr lang="en-US"/>
          </a:p>
        </p:txBody>
      </p:sp>
      <p:grpSp>
        <p:nvGrpSpPr>
          <p:cNvPr id="10" name="Group 10"/>
          <p:cNvGrpSpPr/>
          <p:nvPr/>
        </p:nvGrpSpPr>
        <p:grpSpPr>
          <a:xfrm>
            <a:off x="985647" y="2971219"/>
            <a:ext cx="16298856" cy="671379"/>
            <a:chOff x="0" y="0"/>
            <a:chExt cx="21731808" cy="895172"/>
          </a:xfrm>
        </p:grpSpPr>
        <p:sp>
          <p:nvSpPr>
            <p:cNvPr id="11" name="Freeform 11"/>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12" name="TextBox 12"/>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The Analytical Journey</a:t>
              </a:r>
            </a:p>
          </p:txBody>
        </p:sp>
      </p:grpSp>
      <p:grpSp>
        <p:nvGrpSpPr>
          <p:cNvPr id="13" name="Group 13"/>
          <p:cNvGrpSpPr/>
          <p:nvPr/>
        </p:nvGrpSpPr>
        <p:grpSpPr>
          <a:xfrm>
            <a:off x="985647" y="4371118"/>
            <a:ext cx="4071147" cy="328546"/>
            <a:chOff x="0" y="0"/>
            <a:chExt cx="5428196" cy="438061"/>
          </a:xfrm>
        </p:grpSpPr>
        <p:sp>
          <p:nvSpPr>
            <p:cNvPr id="14" name="Freeform 14"/>
            <p:cNvSpPr/>
            <p:nvPr/>
          </p:nvSpPr>
          <p:spPr>
            <a:xfrm>
              <a:off x="0" y="0"/>
              <a:ext cx="5428190" cy="438064"/>
            </a:xfrm>
            <a:custGeom>
              <a:avLst/>
              <a:gdLst/>
              <a:ahLst/>
              <a:cxnLst/>
              <a:rect l="l" t="t" r="r" b="b"/>
              <a:pathLst>
                <a:path w="5428190" h="438064">
                  <a:moveTo>
                    <a:pt x="0" y="0"/>
                  </a:moveTo>
                  <a:lnTo>
                    <a:pt x="5428190" y="0"/>
                  </a:lnTo>
                  <a:lnTo>
                    <a:pt x="5428190" y="438064"/>
                  </a:lnTo>
                  <a:lnTo>
                    <a:pt x="0" y="438064"/>
                  </a:lnTo>
                  <a:close/>
                </a:path>
              </a:pathLst>
            </a:custGeom>
            <a:solidFill>
              <a:srgbClr val="000000">
                <a:alpha val="0"/>
              </a:srgbClr>
            </a:solidFill>
            <a:ln w="12700">
              <a:solidFill>
                <a:srgbClr val="000000"/>
              </a:solidFill>
            </a:ln>
          </p:spPr>
          <p:txBody>
            <a:bodyPr/>
            <a:lstStyle/>
            <a:p>
              <a:endParaRPr lang="en-US"/>
            </a:p>
          </p:txBody>
        </p:sp>
        <p:sp>
          <p:nvSpPr>
            <p:cNvPr id="15" name="TextBox 15"/>
            <p:cNvSpPr txBox="1"/>
            <p:nvPr/>
          </p:nvSpPr>
          <p:spPr>
            <a:xfrm>
              <a:off x="0" y="-57150"/>
              <a:ext cx="5428196" cy="495211"/>
            </a:xfrm>
            <a:prstGeom prst="rect">
              <a:avLst/>
            </a:prstGeom>
          </p:spPr>
          <p:txBody>
            <a:bodyPr lIns="0" tIns="0" rIns="0" bIns="0" rtlCol="0" anchor="ctr"/>
            <a:lstStyle/>
            <a:p>
              <a:pPr algn="ctr">
                <a:lnSpc>
                  <a:spcPts val="3077"/>
                </a:lnSpc>
              </a:pPr>
              <a:r>
                <a:rPr lang="en-US" sz="2137" b="1">
                  <a:solidFill>
                    <a:srgbClr val="000000"/>
                  </a:solidFill>
                  <a:latin typeface="Ubuntu Bold"/>
                  <a:ea typeface="Ubuntu Bold"/>
                  <a:cs typeface="Ubuntu Bold"/>
                  <a:sym typeface="Ubuntu Bold"/>
                </a:rPr>
                <a:t>1</a:t>
              </a:r>
            </a:p>
          </p:txBody>
        </p:sp>
      </p:grpSp>
      <p:grpSp>
        <p:nvGrpSpPr>
          <p:cNvPr id="16" name="Group 16"/>
          <p:cNvGrpSpPr/>
          <p:nvPr/>
        </p:nvGrpSpPr>
        <p:grpSpPr>
          <a:xfrm>
            <a:off x="1271340" y="5456758"/>
            <a:ext cx="3499752" cy="499967"/>
            <a:chOff x="0" y="0"/>
            <a:chExt cx="4666336" cy="666623"/>
          </a:xfrm>
        </p:grpSpPr>
        <p:sp>
          <p:nvSpPr>
            <p:cNvPr id="17" name="Freeform 17"/>
            <p:cNvSpPr/>
            <p:nvPr/>
          </p:nvSpPr>
          <p:spPr>
            <a:xfrm>
              <a:off x="0" y="0"/>
              <a:ext cx="4666339" cy="666620"/>
            </a:xfrm>
            <a:custGeom>
              <a:avLst/>
              <a:gdLst/>
              <a:ahLst/>
              <a:cxnLst/>
              <a:rect l="l" t="t" r="r" b="b"/>
              <a:pathLst>
                <a:path w="4666339" h="666620">
                  <a:moveTo>
                    <a:pt x="0" y="0"/>
                  </a:moveTo>
                  <a:lnTo>
                    <a:pt x="4666339" y="0"/>
                  </a:lnTo>
                  <a:lnTo>
                    <a:pt x="4666339"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18" name="TextBox 18"/>
            <p:cNvSpPr txBox="1"/>
            <p:nvPr/>
          </p:nvSpPr>
          <p:spPr>
            <a:xfrm>
              <a:off x="0" y="-85725"/>
              <a:ext cx="4666336"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Raw Data</a:t>
              </a:r>
            </a:p>
          </p:txBody>
        </p:sp>
      </p:grpSp>
      <p:grpSp>
        <p:nvGrpSpPr>
          <p:cNvPr id="19" name="Group 19"/>
          <p:cNvGrpSpPr/>
          <p:nvPr/>
        </p:nvGrpSpPr>
        <p:grpSpPr>
          <a:xfrm>
            <a:off x="5056784" y="4371118"/>
            <a:ext cx="4071147" cy="328546"/>
            <a:chOff x="0" y="0"/>
            <a:chExt cx="5428196" cy="438061"/>
          </a:xfrm>
        </p:grpSpPr>
        <p:sp>
          <p:nvSpPr>
            <p:cNvPr id="20" name="Freeform 20"/>
            <p:cNvSpPr/>
            <p:nvPr/>
          </p:nvSpPr>
          <p:spPr>
            <a:xfrm>
              <a:off x="0" y="0"/>
              <a:ext cx="5428190" cy="438064"/>
            </a:xfrm>
            <a:custGeom>
              <a:avLst/>
              <a:gdLst/>
              <a:ahLst/>
              <a:cxnLst/>
              <a:rect l="l" t="t" r="r" b="b"/>
              <a:pathLst>
                <a:path w="5428190" h="438064">
                  <a:moveTo>
                    <a:pt x="0" y="0"/>
                  </a:moveTo>
                  <a:lnTo>
                    <a:pt x="5428190" y="0"/>
                  </a:lnTo>
                  <a:lnTo>
                    <a:pt x="5428190" y="438064"/>
                  </a:lnTo>
                  <a:lnTo>
                    <a:pt x="0" y="438064"/>
                  </a:lnTo>
                  <a:close/>
                </a:path>
              </a:pathLst>
            </a:custGeom>
            <a:solidFill>
              <a:srgbClr val="000000">
                <a:alpha val="0"/>
              </a:srgbClr>
            </a:solidFill>
            <a:ln w="12700">
              <a:solidFill>
                <a:srgbClr val="000000"/>
              </a:solidFill>
            </a:ln>
          </p:spPr>
          <p:txBody>
            <a:bodyPr/>
            <a:lstStyle/>
            <a:p>
              <a:endParaRPr lang="en-US"/>
            </a:p>
          </p:txBody>
        </p:sp>
        <p:sp>
          <p:nvSpPr>
            <p:cNvPr id="21" name="TextBox 21"/>
            <p:cNvSpPr txBox="1"/>
            <p:nvPr/>
          </p:nvSpPr>
          <p:spPr>
            <a:xfrm>
              <a:off x="0" y="-57150"/>
              <a:ext cx="5428196" cy="495211"/>
            </a:xfrm>
            <a:prstGeom prst="rect">
              <a:avLst/>
            </a:prstGeom>
          </p:spPr>
          <p:txBody>
            <a:bodyPr lIns="0" tIns="0" rIns="0" bIns="0" rtlCol="0" anchor="ctr"/>
            <a:lstStyle/>
            <a:p>
              <a:pPr algn="ctr">
                <a:lnSpc>
                  <a:spcPts val="3077"/>
                </a:lnSpc>
              </a:pPr>
              <a:r>
                <a:rPr lang="en-US" sz="2137" b="1">
                  <a:solidFill>
                    <a:srgbClr val="000000"/>
                  </a:solidFill>
                  <a:latin typeface="Ubuntu Bold"/>
                  <a:ea typeface="Ubuntu Bold"/>
                  <a:cs typeface="Ubuntu Bold"/>
                  <a:sym typeface="Ubuntu Bold"/>
                </a:rPr>
                <a:t>2</a:t>
              </a:r>
            </a:p>
          </p:txBody>
        </p:sp>
      </p:grpSp>
      <p:grpSp>
        <p:nvGrpSpPr>
          <p:cNvPr id="22" name="Group 22"/>
          <p:cNvGrpSpPr/>
          <p:nvPr/>
        </p:nvGrpSpPr>
        <p:grpSpPr>
          <a:xfrm>
            <a:off x="5342477" y="5456758"/>
            <a:ext cx="3371193" cy="499967"/>
            <a:chOff x="0" y="0"/>
            <a:chExt cx="4494924" cy="666623"/>
          </a:xfrm>
        </p:grpSpPr>
        <p:sp>
          <p:nvSpPr>
            <p:cNvPr id="23" name="Freeform 23"/>
            <p:cNvSpPr/>
            <p:nvPr/>
          </p:nvSpPr>
          <p:spPr>
            <a:xfrm>
              <a:off x="0" y="0"/>
              <a:ext cx="4494922" cy="666620"/>
            </a:xfrm>
            <a:custGeom>
              <a:avLst/>
              <a:gdLst/>
              <a:ahLst/>
              <a:cxnLst/>
              <a:rect l="l" t="t" r="r" b="b"/>
              <a:pathLst>
                <a:path w="4494922" h="666620">
                  <a:moveTo>
                    <a:pt x="0" y="0"/>
                  </a:moveTo>
                  <a:lnTo>
                    <a:pt x="4494922" y="0"/>
                  </a:lnTo>
                  <a:lnTo>
                    <a:pt x="4494922"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4" name="TextBox 24"/>
            <p:cNvSpPr txBox="1"/>
            <p:nvPr/>
          </p:nvSpPr>
          <p:spPr>
            <a:xfrm>
              <a:off x="0" y="-85725"/>
              <a:ext cx="4494924"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Define Variables</a:t>
              </a:r>
            </a:p>
          </p:txBody>
        </p:sp>
      </p:grpSp>
      <p:grpSp>
        <p:nvGrpSpPr>
          <p:cNvPr id="25" name="Group 25"/>
          <p:cNvGrpSpPr/>
          <p:nvPr/>
        </p:nvGrpSpPr>
        <p:grpSpPr>
          <a:xfrm>
            <a:off x="9127931" y="4371118"/>
            <a:ext cx="4071147" cy="328546"/>
            <a:chOff x="0" y="0"/>
            <a:chExt cx="5428196" cy="438061"/>
          </a:xfrm>
        </p:grpSpPr>
        <p:sp>
          <p:nvSpPr>
            <p:cNvPr id="26" name="Freeform 26"/>
            <p:cNvSpPr/>
            <p:nvPr/>
          </p:nvSpPr>
          <p:spPr>
            <a:xfrm>
              <a:off x="0" y="0"/>
              <a:ext cx="5428190" cy="438064"/>
            </a:xfrm>
            <a:custGeom>
              <a:avLst/>
              <a:gdLst/>
              <a:ahLst/>
              <a:cxnLst/>
              <a:rect l="l" t="t" r="r" b="b"/>
              <a:pathLst>
                <a:path w="5428190" h="438064">
                  <a:moveTo>
                    <a:pt x="0" y="0"/>
                  </a:moveTo>
                  <a:lnTo>
                    <a:pt x="5428190" y="0"/>
                  </a:lnTo>
                  <a:lnTo>
                    <a:pt x="5428190" y="438064"/>
                  </a:lnTo>
                  <a:lnTo>
                    <a:pt x="0" y="438064"/>
                  </a:lnTo>
                  <a:close/>
                </a:path>
              </a:pathLst>
            </a:custGeom>
            <a:solidFill>
              <a:srgbClr val="000000">
                <a:alpha val="0"/>
              </a:srgbClr>
            </a:solidFill>
            <a:ln w="12700">
              <a:solidFill>
                <a:srgbClr val="000000"/>
              </a:solidFill>
            </a:ln>
          </p:spPr>
          <p:txBody>
            <a:bodyPr/>
            <a:lstStyle/>
            <a:p>
              <a:endParaRPr lang="en-US"/>
            </a:p>
          </p:txBody>
        </p:sp>
        <p:sp>
          <p:nvSpPr>
            <p:cNvPr id="27" name="TextBox 27"/>
            <p:cNvSpPr txBox="1"/>
            <p:nvPr/>
          </p:nvSpPr>
          <p:spPr>
            <a:xfrm>
              <a:off x="0" y="-57150"/>
              <a:ext cx="5428196" cy="495211"/>
            </a:xfrm>
            <a:prstGeom prst="rect">
              <a:avLst/>
            </a:prstGeom>
          </p:spPr>
          <p:txBody>
            <a:bodyPr lIns="0" tIns="0" rIns="0" bIns="0" rtlCol="0" anchor="ctr"/>
            <a:lstStyle/>
            <a:p>
              <a:pPr algn="ctr">
                <a:lnSpc>
                  <a:spcPts val="3077"/>
                </a:lnSpc>
              </a:pPr>
              <a:r>
                <a:rPr lang="en-US" sz="2137" b="1">
                  <a:solidFill>
                    <a:srgbClr val="000000"/>
                  </a:solidFill>
                  <a:latin typeface="Ubuntu Bold"/>
                  <a:ea typeface="Ubuntu Bold"/>
                  <a:cs typeface="Ubuntu Bold"/>
                  <a:sym typeface="Ubuntu Bold"/>
                </a:rPr>
                <a:t>3</a:t>
              </a:r>
            </a:p>
          </p:txBody>
        </p:sp>
      </p:grpSp>
      <p:grpSp>
        <p:nvGrpSpPr>
          <p:cNvPr id="28" name="Group 28"/>
          <p:cNvGrpSpPr/>
          <p:nvPr/>
        </p:nvGrpSpPr>
        <p:grpSpPr>
          <a:xfrm>
            <a:off x="9413624" y="5456758"/>
            <a:ext cx="3414046" cy="499967"/>
            <a:chOff x="0" y="0"/>
            <a:chExt cx="4552061" cy="666623"/>
          </a:xfrm>
        </p:grpSpPr>
        <p:sp>
          <p:nvSpPr>
            <p:cNvPr id="29" name="Freeform 29"/>
            <p:cNvSpPr/>
            <p:nvPr/>
          </p:nvSpPr>
          <p:spPr>
            <a:xfrm>
              <a:off x="0" y="0"/>
              <a:ext cx="4552061" cy="666620"/>
            </a:xfrm>
            <a:custGeom>
              <a:avLst/>
              <a:gdLst/>
              <a:ahLst/>
              <a:cxnLst/>
              <a:rect l="l" t="t" r="r" b="b"/>
              <a:pathLst>
                <a:path w="4552061" h="666620">
                  <a:moveTo>
                    <a:pt x="0" y="0"/>
                  </a:moveTo>
                  <a:lnTo>
                    <a:pt x="4552061" y="0"/>
                  </a:lnTo>
                  <a:lnTo>
                    <a:pt x="4552061"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30" name="TextBox 30"/>
            <p:cNvSpPr txBox="1"/>
            <p:nvPr/>
          </p:nvSpPr>
          <p:spPr>
            <a:xfrm>
              <a:off x="0" y="-85725"/>
              <a:ext cx="455206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Build Model</a:t>
              </a:r>
            </a:p>
          </p:txBody>
        </p:sp>
      </p:grpSp>
      <p:grpSp>
        <p:nvGrpSpPr>
          <p:cNvPr id="31" name="Group 31"/>
          <p:cNvGrpSpPr/>
          <p:nvPr/>
        </p:nvGrpSpPr>
        <p:grpSpPr>
          <a:xfrm>
            <a:off x="13213356" y="4371118"/>
            <a:ext cx="4071147" cy="328546"/>
            <a:chOff x="0" y="0"/>
            <a:chExt cx="5428196" cy="438061"/>
          </a:xfrm>
        </p:grpSpPr>
        <p:sp>
          <p:nvSpPr>
            <p:cNvPr id="32" name="Freeform 32"/>
            <p:cNvSpPr/>
            <p:nvPr/>
          </p:nvSpPr>
          <p:spPr>
            <a:xfrm>
              <a:off x="0" y="0"/>
              <a:ext cx="5428190" cy="438064"/>
            </a:xfrm>
            <a:custGeom>
              <a:avLst/>
              <a:gdLst/>
              <a:ahLst/>
              <a:cxnLst/>
              <a:rect l="l" t="t" r="r" b="b"/>
              <a:pathLst>
                <a:path w="5428190" h="438064">
                  <a:moveTo>
                    <a:pt x="0" y="0"/>
                  </a:moveTo>
                  <a:lnTo>
                    <a:pt x="5428190" y="0"/>
                  </a:lnTo>
                  <a:lnTo>
                    <a:pt x="5428190" y="438064"/>
                  </a:lnTo>
                  <a:lnTo>
                    <a:pt x="0" y="438064"/>
                  </a:lnTo>
                  <a:close/>
                </a:path>
              </a:pathLst>
            </a:custGeom>
            <a:solidFill>
              <a:srgbClr val="000000">
                <a:alpha val="0"/>
              </a:srgbClr>
            </a:solidFill>
            <a:ln w="12700">
              <a:solidFill>
                <a:srgbClr val="000000"/>
              </a:solidFill>
            </a:ln>
          </p:spPr>
          <p:txBody>
            <a:bodyPr/>
            <a:lstStyle/>
            <a:p>
              <a:endParaRPr lang="en-US"/>
            </a:p>
          </p:txBody>
        </p:sp>
        <p:sp>
          <p:nvSpPr>
            <p:cNvPr id="33" name="TextBox 33"/>
            <p:cNvSpPr txBox="1"/>
            <p:nvPr/>
          </p:nvSpPr>
          <p:spPr>
            <a:xfrm>
              <a:off x="0" y="-57150"/>
              <a:ext cx="5428196" cy="495211"/>
            </a:xfrm>
            <a:prstGeom prst="rect">
              <a:avLst/>
            </a:prstGeom>
          </p:spPr>
          <p:txBody>
            <a:bodyPr lIns="0" tIns="0" rIns="0" bIns="0" rtlCol="0" anchor="ctr"/>
            <a:lstStyle/>
            <a:p>
              <a:pPr algn="ctr">
                <a:lnSpc>
                  <a:spcPts val="3077"/>
                </a:lnSpc>
              </a:pPr>
              <a:r>
                <a:rPr lang="en-US" sz="2137" b="1">
                  <a:solidFill>
                    <a:srgbClr val="000000"/>
                  </a:solidFill>
                  <a:latin typeface="Ubuntu Bold"/>
                  <a:ea typeface="Ubuntu Bold"/>
                  <a:cs typeface="Ubuntu Bold"/>
                  <a:sym typeface="Ubuntu Bold"/>
                </a:rPr>
                <a:t>4</a:t>
              </a:r>
            </a:p>
          </p:txBody>
        </p:sp>
      </p:grpSp>
      <p:grpSp>
        <p:nvGrpSpPr>
          <p:cNvPr id="34" name="Group 34"/>
          <p:cNvGrpSpPr/>
          <p:nvPr/>
        </p:nvGrpSpPr>
        <p:grpSpPr>
          <a:xfrm>
            <a:off x="13499049" y="5456758"/>
            <a:ext cx="3499752" cy="499967"/>
            <a:chOff x="0" y="0"/>
            <a:chExt cx="4666336" cy="666623"/>
          </a:xfrm>
        </p:grpSpPr>
        <p:sp>
          <p:nvSpPr>
            <p:cNvPr id="35" name="Freeform 35"/>
            <p:cNvSpPr/>
            <p:nvPr/>
          </p:nvSpPr>
          <p:spPr>
            <a:xfrm>
              <a:off x="0" y="0"/>
              <a:ext cx="4666339" cy="666620"/>
            </a:xfrm>
            <a:custGeom>
              <a:avLst/>
              <a:gdLst/>
              <a:ahLst/>
              <a:cxnLst/>
              <a:rect l="l" t="t" r="r" b="b"/>
              <a:pathLst>
                <a:path w="4666339" h="666620">
                  <a:moveTo>
                    <a:pt x="0" y="0"/>
                  </a:moveTo>
                  <a:lnTo>
                    <a:pt x="4666339" y="0"/>
                  </a:lnTo>
                  <a:lnTo>
                    <a:pt x="4666339"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36" name="TextBox 36"/>
            <p:cNvSpPr txBox="1"/>
            <p:nvPr/>
          </p:nvSpPr>
          <p:spPr>
            <a:xfrm>
              <a:off x="0" y="-85725"/>
              <a:ext cx="4666336"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Discover Insight</a:t>
              </a:r>
            </a:p>
          </p:txBody>
        </p:sp>
      </p:grpSp>
      <p:grpSp>
        <p:nvGrpSpPr>
          <p:cNvPr id="37" name="Group 37"/>
          <p:cNvGrpSpPr/>
          <p:nvPr/>
        </p:nvGrpSpPr>
        <p:grpSpPr>
          <a:xfrm>
            <a:off x="1271340" y="6156712"/>
            <a:ext cx="3499752" cy="842801"/>
            <a:chOff x="0" y="0"/>
            <a:chExt cx="4666336" cy="1123734"/>
          </a:xfrm>
        </p:grpSpPr>
        <p:sp>
          <p:nvSpPr>
            <p:cNvPr id="38" name="Freeform 38"/>
            <p:cNvSpPr/>
            <p:nvPr/>
          </p:nvSpPr>
          <p:spPr>
            <a:xfrm>
              <a:off x="0" y="0"/>
              <a:ext cx="4666339" cy="1123731"/>
            </a:xfrm>
            <a:custGeom>
              <a:avLst/>
              <a:gdLst/>
              <a:ahLst/>
              <a:cxnLst/>
              <a:rect l="l" t="t" r="r" b="b"/>
              <a:pathLst>
                <a:path w="4666339" h="1123731">
                  <a:moveTo>
                    <a:pt x="0" y="0"/>
                  </a:moveTo>
                  <a:lnTo>
                    <a:pt x="4666339" y="0"/>
                  </a:lnTo>
                  <a:lnTo>
                    <a:pt x="4666339"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39" name="TextBox 39"/>
            <p:cNvSpPr txBox="1"/>
            <p:nvPr/>
          </p:nvSpPr>
          <p:spPr>
            <a:xfrm>
              <a:off x="0" y="-142875"/>
              <a:ext cx="4666336" cy="1266609"/>
            </a:xfrm>
            <a:prstGeom prst="rect">
              <a:avLst/>
            </a:prstGeom>
          </p:spPr>
          <p:txBody>
            <a:bodyPr lIns="0" tIns="0" rIns="0" bIns="0" rtlCol="0" anchor="ctr"/>
            <a:lstStyle/>
            <a:p>
              <a:pPr algn="l">
                <a:lnSpc>
                  <a:spcPts val="3846"/>
                </a:lnSpc>
              </a:pPr>
              <a:r>
                <a:rPr lang="en-US" sz="2137" b="1" dirty="0">
                  <a:solidFill>
                    <a:srgbClr val="000000"/>
                  </a:solidFill>
                  <a:latin typeface="Poppins Bold"/>
                  <a:ea typeface="Poppins Bold"/>
                  <a:cs typeface="Poppins Bold"/>
                  <a:sym typeface="Poppins Bold"/>
                </a:rPr>
                <a:t>84,000 voters from NY file</a:t>
              </a:r>
            </a:p>
          </p:txBody>
        </p:sp>
      </p:grpSp>
      <p:grpSp>
        <p:nvGrpSpPr>
          <p:cNvPr id="40" name="Group 40"/>
          <p:cNvGrpSpPr/>
          <p:nvPr/>
        </p:nvGrpSpPr>
        <p:grpSpPr>
          <a:xfrm>
            <a:off x="5342477" y="6156712"/>
            <a:ext cx="3399768" cy="1958588"/>
            <a:chOff x="0" y="0"/>
            <a:chExt cx="4533024" cy="1138812"/>
          </a:xfrm>
        </p:grpSpPr>
        <p:sp>
          <p:nvSpPr>
            <p:cNvPr id="41" name="Freeform 41"/>
            <p:cNvSpPr/>
            <p:nvPr/>
          </p:nvSpPr>
          <p:spPr>
            <a:xfrm>
              <a:off x="0" y="0"/>
              <a:ext cx="4494923" cy="1138812"/>
            </a:xfrm>
            <a:custGeom>
              <a:avLst/>
              <a:gdLst/>
              <a:ahLst/>
              <a:cxnLst/>
              <a:rect l="l" t="t" r="r" b="b"/>
              <a:pathLst>
                <a:path w="4494922" h="552342">
                  <a:moveTo>
                    <a:pt x="0" y="0"/>
                  </a:moveTo>
                  <a:lnTo>
                    <a:pt x="4494922" y="0"/>
                  </a:lnTo>
                  <a:lnTo>
                    <a:pt x="4494922" y="552342"/>
                  </a:lnTo>
                  <a:lnTo>
                    <a:pt x="0" y="552342"/>
                  </a:lnTo>
                  <a:close/>
                </a:path>
              </a:pathLst>
            </a:custGeom>
            <a:solidFill>
              <a:srgbClr val="000000">
                <a:alpha val="0"/>
              </a:srgbClr>
            </a:solidFill>
            <a:ln w="12700">
              <a:solidFill>
                <a:srgbClr val="000000"/>
              </a:solidFill>
            </a:ln>
          </p:spPr>
          <p:txBody>
            <a:bodyPr/>
            <a:lstStyle/>
            <a:p>
              <a:endParaRPr lang="en-US" dirty="0"/>
            </a:p>
          </p:txBody>
        </p:sp>
        <p:sp>
          <p:nvSpPr>
            <p:cNvPr id="42" name="TextBox 42"/>
            <p:cNvSpPr txBox="1"/>
            <p:nvPr/>
          </p:nvSpPr>
          <p:spPr>
            <a:xfrm>
              <a:off x="38100" y="193494"/>
              <a:ext cx="4494924" cy="695223"/>
            </a:xfrm>
            <a:prstGeom prst="rect">
              <a:avLst/>
            </a:prstGeom>
          </p:spPr>
          <p:txBody>
            <a:bodyPr lIns="0" tIns="0" rIns="0" bIns="0" rtlCol="0" anchor="ctr"/>
            <a:lstStyle/>
            <a:p>
              <a:pPr algn="l">
                <a:lnSpc>
                  <a:spcPts val="3846"/>
                </a:lnSpc>
              </a:pPr>
              <a:r>
                <a:rPr lang="en-US" sz="2137" b="1" dirty="0">
                  <a:solidFill>
                    <a:srgbClr val="000000"/>
                  </a:solidFill>
                  <a:latin typeface="Poppins Bold"/>
                  <a:ea typeface="Poppins Bold"/>
                  <a:cs typeface="Poppins Bold"/>
                  <a:sym typeface="Poppins Bold"/>
                </a:rPr>
                <a:t>Age, Income, Gender</a:t>
              </a:r>
            </a:p>
            <a:p>
              <a:pPr algn="l">
                <a:lnSpc>
                  <a:spcPts val="3846"/>
                </a:lnSpc>
              </a:pPr>
              <a:r>
                <a:rPr lang="en-US" sz="2137" b="1" dirty="0">
                  <a:solidFill>
                    <a:srgbClr val="000000"/>
                  </a:solidFill>
                  <a:latin typeface="Poppins Bold"/>
                  <a:ea typeface="Poppins Bold"/>
                  <a:cs typeface="Poppins Bold"/>
                  <a:sym typeface="Poppins Bold"/>
                </a:rPr>
                <a:t>Processed through </a:t>
              </a:r>
              <a:r>
                <a:rPr lang="en-US" sz="2137" b="1" dirty="0" err="1">
                  <a:solidFill>
                    <a:srgbClr val="000000"/>
                  </a:solidFill>
                  <a:latin typeface="Poppins Bold"/>
                  <a:ea typeface="Poppins Bold"/>
                  <a:cs typeface="Poppins Bold"/>
                  <a:sym typeface="Poppins Bold"/>
                </a:rPr>
                <a:t>Redivis</a:t>
              </a:r>
              <a:endParaRPr lang="en-US" sz="2137" b="1" dirty="0">
                <a:solidFill>
                  <a:srgbClr val="000000"/>
                </a:solidFill>
                <a:latin typeface="Poppins Bold"/>
                <a:ea typeface="Poppins Bold"/>
                <a:cs typeface="Poppins Bold"/>
                <a:sym typeface="Poppins Bold"/>
              </a:endParaRPr>
            </a:p>
            <a:p>
              <a:pPr algn="l">
                <a:lnSpc>
                  <a:spcPts val="3846"/>
                </a:lnSpc>
              </a:pPr>
              <a:r>
                <a:rPr lang="en-US" sz="2137" b="1" dirty="0">
                  <a:solidFill>
                    <a:srgbClr val="000000"/>
                  </a:solidFill>
                  <a:latin typeface="Poppins Bold"/>
                  <a:ea typeface="Poppins Bold"/>
                  <a:cs typeface="Poppins Bold"/>
                  <a:sym typeface="Poppins Bold"/>
                </a:rPr>
                <a:t>Graphics through R</a:t>
              </a:r>
            </a:p>
          </p:txBody>
        </p:sp>
      </p:grpSp>
      <p:grpSp>
        <p:nvGrpSpPr>
          <p:cNvPr id="43" name="Group 43"/>
          <p:cNvGrpSpPr/>
          <p:nvPr/>
        </p:nvGrpSpPr>
        <p:grpSpPr>
          <a:xfrm>
            <a:off x="9413624" y="6156712"/>
            <a:ext cx="3475279" cy="1195681"/>
            <a:chOff x="0" y="0"/>
            <a:chExt cx="4633705" cy="1249728"/>
          </a:xfrm>
        </p:grpSpPr>
        <p:sp>
          <p:nvSpPr>
            <p:cNvPr id="44" name="Freeform 44"/>
            <p:cNvSpPr/>
            <p:nvPr/>
          </p:nvSpPr>
          <p:spPr>
            <a:xfrm>
              <a:off x="0" y="0"/>
              <a:ext cx="4552061" cy="1249728"/>
            </a:xfrm>
            <a:custGeom>
              <a:avLst/>
              <a:gdLst/>
              <a:ahLst/>
              <a:cxnLst/>
              <a:rect l="l" t="t" r="r" b="b"/>
              <a:pathLst>
                <a:path w="4552061" h="552342">
                  <a:moveTo>
                    <a:pt x="0" y="0"/>
                  </a:moveTo>
                  <a:lnTo>
                    <a:pt x="4552061" y="0"/>
                  </a:lnTo>
                  <a:lnTo>
                    <a:pt x="4552061" y="552342"/>
                  </a:lnTo>
                  <a:lnTo>
                    <a:pt x="0" y="552342"/>
                  </a:lnTo>
                  <a:close/>
                </a:path>
              </a:pathLst>
            </a:custGeom>
            <a:solidFill>
              <a:srgbClr val="000000">
                <a:alpha val="0"/>
              </a:srgbClr>
            </a:solidFill>
            <a:ln w="12700">
              <a:solidFill>
                <a:srgbClr val="000000"/>
              </a:solidFill>
            </a:ln>
          </p:spPr>
          <p:txBody>
            <a:bodyPr/>
            <a:lstStyle/>
            <a:p>
              <a:endParaRPr lang="en-US" dirty="0"/>
            </a:p>
          </p:txBody>
        </p:sp>
        <p:sp>
          <p:nvSpPr>
            <p:cNvPr id="45" name="TextBox 45"/>
            <p:cNvSpPr txBox="1"/>
            <p:nvPr/>
          </p:nvSpPr>
          <p:spPr>
            <a:xfrm>
              <a:off x="81644" y="111960"/>
              <a:ext cx="4552061" cy="695223"/>
            </a:xfrm>
            <a:prstGeom prst="rect">
              <a:avLst/>
            </a:prstGeom>
          </p:spPr>
          <p:txBody>
            <a:bodyPr lIns="0" tIns="0" rIns="0" bIns="0" rtlCol="0" anchor="ctr"/>
            <a:lstStyle/>
            <a:p>
              <a:pPr algn="l">
                <a:lnSpc>
                  <a:spcPts val="3846"/>
                </a:lnSpc>
              </a:pPr>
              <a:r>
                <a:rPr lang="en-US" sz="2137" b="1" dirty="0">
                  <a:solidFill>
                    <a:srgbClr val="000000"/>
                  </a:solidFill>
                  <a:latin typeface="Poppins Bold"/>
                  <a:ea typeface="Poppins Bold"/>
                  <a:cs typeface="Poppins Bold"/>
                  <a:sym typeface="Poppins Bold"/>
                </a:rPr>
                <a:t>Linear regression through R</a:t>
              </a:r>
            </a:p>
          </p:txBody>
        </p:sp>
      </p:grpSp>
      <p:grpSp>
        <p:nvGrpSpPr>
          <p:cNvPr id="46" name="Group 46"/>
          <p:cNvGrpSpPr/>
          <p:nvPr/>
        </p:nvGrpSpPr>
        <p:grpSpPr>
          <a:xfrm>
            <a:off x="13499049" y="6156712"/>
            <a:ext cx="3499752" cy="842801"/>
            <a:chOff x="0" y="0"/>
            <a:chExt cx="4666336" cy="1123734"/>
          </a:xfrm>
        </p:grpSpPr>
        <p:sp>
          <p:nvSpPr>
            <p:cNvPr id="47" name="Freeform 47"/>
            <p:cNvSpPr/>
            <p:nvPr/>
          </p:nvSpPr>
          <p:spPr>
            <a:xfrm>
              <a:off x="0" y="0"/>
              <a:ext cx="4666339" cy="1123731"/>
            </a:xfrm>
            <a:custGeom>
              <a:avLst/>
              <a:gdLst/>
              <a:ahLst/>
              <a:cxnLst/>
              <a:rect l="l" t="t" r="r" b="b"/>
              <a:pathLst>
                <a:path w="4666339" h="1123731">
                  <a:moveTo>
                    <a:pt x="0" y="0"/>
                  </a:moveTo>
                  <a:lnTo>
                    <a:pt x="4666339" y="0"/>
                  </a:lnTo>
                  <a:lnTo>
                    <a:pt x="4666339"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48" name="TextBox 48"/>
            <p:cNvSpPr txBox="1"/>
            <p:nvPr/>
          </p:nvSpPr>
          <p:spPr>
            <a:xfrm>
              <a:off x="0" y="-142875"/>
              <a:ext cx="4666336"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Modest predictive power</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3642598" y="5728173"/>
            <a:ext cx="5056784" cy="14288"/>
            <a:chOff x="0" y="0"/>
            <a:chExt cx="6742379" cy="19050"/>
          </a:xfrm>
        </p:grpSpPr>
        <p:sp>
          <p:nvSpPr>
            <p:cNvPr id="7" name="Freeform 7"/>
            <p:cNvSpPr/>
            <p:nvPr/>
          </p:nvSpPr>
          <p:spPr>
            <a:xfrm>
              <a:off x="0" y="0"/>
              <a:ext cx="6742430" cy="19050"/>
            </a:xfrm>
            <a:custGeom>
              <a:avLst/>
              <a:gdLst/>
              <a:ahLst/>
              <a:cxnLst/>
              <a:rect l="l" t="t" r="r" b="b"/>
              <a:pathLst>
                <a:path w="6742430" h="19050">
                  <a:moveTo>
                    <a:pt x="0" y="9525"/>
                  </a:moveTo>
                  <a:cubicBezTo>
                    <a:pt x="0" y="4318"/>
                    <a:pt x="4318" y="0"/>
                    <a:pt x="9525" y="0"/>
                  </a:cubicBezTo>
                  <a:lnTo>
                    <a:pt x="6732905" y="0"/>
                  </a:lnTo>
                  <a:cubicBezTo>
                    <a:pt x="6738112" y="0"/>
                    <a:pt x="6742430" y="4318"/>
                    <a:pt x="6742430" y="9525"/>
                  </a:cubicBezTo>
                  <a:cubicBezTo>
                    <a:pt x="6742430" y="14732"/>
                    <a:pt x="6738112" y="19050"/>
                    <a:pt x="6732905" y="19050"/>
                  </a:cubicBezTo>
                  <a:lnTo>
                    <a:pt x="9525" y="19050"/>
                  </a:lnTo>
                  <a:cubicBezTo>
                    <a:pt x="4318" y="19050"/>
                    <a:pt x="0" y="14732"/>
                    <a:pt x="0" y="9525"/>
                  </a:cubicBezTo>
                  <a:close/>
                </a:path>
              </a:pathLst>
            </a:custGeom>
            <a:solidFill>
              <a:srgbClr val="AE8383"/>
            </a:solidFill>
            <a:ln w="12700">
              <a:solidFill>
                <a:srgbClr val="000000"/>
              </a:solidFill>
            </a:ln>
          </p:spPr>
          <p:txBody>
            <a:bodyPr/>
            <a:lstStyle/>
            <a:p>
              <a:endParaRPr lang="en-US"/>
            </a:p>
          </p:txBody>
        </p:sp>
      </p:grpSp>
      <p:grpSp>
        <p:nvGrpSpPr>
          <p:cNvPr id="8" name="Group 8"/>
          <p:cNvGrpSpPr/>
          <p:nvPr/>
        </p:nvGrpSpPr>
        <p:grpSpPr>
          <a:xfrm>
            <a:off x="4285412" y="6785239"/>
            <a:ext cx="4413971" cy="14288"/>
            <a:chOff x="0" y="0"/>
            <a:chExt cx="5885294" cy="19050"/>
          </a:xfrm>
        </p:grpSpPr>
        <p:sp>
          <p:nvSpPr>
            <p:cNvPr id="9" name="Freeform 9"/>
            <p:cNvSpPr/>
            <p:nvPr/>
          </p:nvSpPr>
          <p:spPr>
            <a:xfrm>
              <a:off x="0" y="0"/>
              <a:ext cx="5885307" cy="19050"/>
            </a:xfrm>
            <a:custGeom>
              <a:avLst/>
              <a:gdLst/>
              <a:ahLst/>
              <a:cxnLst/>
              <a:rect l="l" t="t" r="r" b="b"/>
              <a:pathLst>
                <a:path w="5885307" h="19050">
                  <a:moveTo>
                    <a:pt x="0" y="9525"/>
                  </a:moveTo>
                  <a:cubicBezTo>
                    <a:pt x="0" y="4318"/>
                    <a:pt x="4318" y="0"/>
                    <a:pt x="9525" y="0"/>
                  </a:cubicBezTo>
                  <a:lnTo>
                    <a:pt x="5875782" y="0"/>
                  </a:lnTo>
                  <a:cubicBezTo>
                    <a:pt x="5880989" y="0"/>
                    <a:pt x="5885307" y="4318"/>
                    <a:pt x="5885307" y="9525"/>
                  </a:cubicBezTo>
                  <a:cubicBezTo>
                    <a:pt x="5885307" y="14732"/>
                    <a:pt x="5880989" y="19050"/>
                    <a:pt x="5875782" y="19050"/>
                  </a:cubicBezTo>
                  <a:lnTo>
                    <a:pt x="9525" y="19050"/>
                  </a:lnTo>
                  <a:cubicBezTo>
                    <a:pt x="4318" y="19050"/>
                    <a:pt x="0" y="14732"/>
                    <a:pt x="0" y="9525"/>
                  </a:cubicBezTo>
                  <a:close/>
                </a:path>
              </a:pathLst>
            </a:custGeom>
            <a:solidFill>
              <a:srgbClr val="AE8383"/>
            </a:solidFill>
            <a:ln w="12700">
              <a:solidFill>
                <a:srgbClr val="000000"/>
              </a:solidFill>
            </a:ln>
          </p:spPr>
          <p:txBody>
            <a:bodyPr/>
            <a:lstStyle/>
            <a:p>
              <a:endParaRPr lang="en-US"/>
            </a:p>
          </p:txBody>
        </p:sp>
      </p:grpSp>
      <p:grpSp>
        <p:nvGrpSpPr>
          <p:cNvPr id="10" name="Group 10"/>
          <p:cNvGrpSpPr/>
          <p:nvPr/>
        </p:nvGrpSpPr>
        <p:grpSpPr>
          <a:xfrm>
            <a:off x="4928225" y="7856591"/>
            <a:ext cx="3771167" cy="14288"/>
            <a:chOff x="0" y="0"/>
            <a:chExt cx="5028222" cy="19050"/>
          </a:xfrm>
        </p:grpSpPr>
        <p:sp>
          <p:nvSpPr>
            <p:cNvPr id="11" name="Freeform 11"/>
            <p:cNvSpPr/>
            <p:nvPr/>
          </p:nvSpPr>
          <p:spPr>
            <a:xfrm>
              <a:off x="0" y="0"/>
              <a:ext cx="5028184" cy="19050"/>
            </a:xfrm>
            <a:custGeom>
              <a:avLst/>
              <a:gdLst/>
              <a:ahLst/>
              <a:cxnLst/>
              <a:rect l="l" t="t" r="r" b="b"/>
              <a:pathLst>
                <a:path w="5028184" h="19050">
                  <a:moveTo>
                    <a:pt x="0" y="9525"/>
                  </a:moveTo>
                  <a:cubicBezTo>
                    <a:pt x="0" y="4318"/>
                    <a:pt x="4318" y="0"/>
                    <a:pt x="9525" y="0"/>
                  </a:cubicBezTo>
                  <a:lnTo>
                    <a:pt x="5018659" y="0"/>
                  </a:lnTo>
                  <a:cubicBezTo>
                    <a:pt x="5023866" y="0"/>
                    <a:pt x="5028184" y="4318"/>
                    <a:pt x="5028184" y="9525"/>
                  </a:cubicBezTo>
                  <a:cubicBezTo>
                    <a:pt x="5028184" y="14732"/>
                    <a:pt x="5023866" y="19050"/>
                    <a:pt x="5018659" y="19050"/>
                  </a:cubicBezTo>
                  <a:lnTo>
                    <a:pt x="9525" y="19050"/>
                  </a:lnTo>
                  <a:cubicBezTo>
                    <a:pt x="4318" y="19050"/>
                    <a:pt x="0" y="14732"/>
                    <a:pt x="0" y="9525"/>
                  </a:cubicBezTo>
                  <a:close/>
                </a:path>
              </a:pathLst>
            </a:custGeom>
            <a:solidFill>
              <a:srgbClr val="AE8383"/>
            </a:solidFill>
            <a:ln w="12700">
              <a:solidFill>
                <a:srgbClr val="000000"/>
              </a:solidFill>
            </a:ln>
          </p:spPr>
          <p:txBody>
            <a:bodyPr/>
            <a:lstStyle/>
            <a:p>
              <a:endParaRPr lang="en-US"/>
            </a:p>
          </p:txBody>
        </p:sp>
      </p:grpSp>
      <p:sp>
        <p:nvSpPr>
          <p:cNvPr id="12" name="Freeform 12"/>
          <p:cNvSpPr/>
          <p:nvPr/>
        </p:nvSpPr>
        <p:spPr>
          <a:xfrm>
            <a:off x="2285552" y="4699673"/>
            <a:ext cx="1285627" cy="971360"/>
          </a:xfrm>
          <a:custGeom>
            <a:avLst/>
            <a:gdLst/>
            <a:ahLst/>
            <a:cxnLst/>
            <a:rect l="l" t="t" r="r" b="b"/>
            <a:pathLst>
              <a:path w="1285627" h="971360">
                <a:moveTo>
                  <a:pt x="0" y="0"/>
                </a:moveTo>
                <a:lnTo>
                  <a:pt x="1285628" y="0"/>
                </a:lnTo>
                <a:lnTo>
                  <a:pt x="1285628" y="971360"/>
                </a:lnTo>
                <a:lnTo>
                  <a:pt x="0" y="971360"/>
                </a:lnTo>
                <a:lnTo>
                  <a:pt x="0" y="0"/>
                </a:lnTo>
                <a:close/>
              </a:path>
            </a:pathLst>
          </a:custGeom>
          <a:blipFill>
            <a:blip r:embed="rId3"/>
            <a:stretch>
              <a:fillRect t="-973" b="-973"/>
            </a:stretch>
          </a:blipFill>
        </p:spPr>
        <p:txBody>
          <a:bodyPr/>
          <a:lstStyle/>
          <a:p>
            <a:endParaRPr lang="en-US"/>
          </a:p>
        </p:txBody>
      </p:sp>
      <p:sp>
        <p:nvSpPr>
          <p:cNvPr id="13" name="Freeform 13"/>
          <p:cNvSpPr/>
          <p:nvPr/>
        </p:nvSpPr>
        <p:spPr>
          <a:xfrm>
            <a:off x="1642739" y="5771026"/>
            <a:ext cx="2571245" cy="971360"/>
          </a:xfrm>
          <a:custGeom>
            <a:avLst/>
            <a:gdLst/>
            <a:ahLst/>
            <a:cxnLst/>
            <a:rect l="l" t="t" r="r" b="b"/>
            <a:pathLst>
              <a:path w="2571245" h="971360">
                <a:moveTo>
                  <a:pt x="0" y="0"/>
                </a:moveTo>
                <a:lnTo>
                  <a:pt x="2571245" y="0"/>
                </a:lnTo>
                <a:lnTo>
                  <a:pt x="2571245" y="971360"/>
                </a:lnTo>
                <a:lnTo>
                  <a:pt x="0" y="971360"/>
                </a:lnTo>
                <a:lnTo>
                  <a:pt x="0" y="0"/>
                </a:lnTo>
                <a:close/>
              </a:path>
            </a:pathLst>
          </a:custGeom>
          <a:blipFill>
            <a:blip r:embed="rId4"/>
            <a:stretch>
              <a:fillRect t="-1320" b="-1319"/>
            </a:stretch>
          </a:blipFill>
        </p:spPr>
        <p:txBody>
          <a:bodyPr/>
          <a:lstStyle/>
          <a:p>
            <a:endParaRPr lang="en-US"/>
          </a:p>
        </p:txBody>
      </p:sp>
      <p:sp>
        <p:nvSpPr>
          <p:cNvPr id="14" name="Freeform 14"/>
          <p:cNvSpPr/>
          <p:nvPr/>
        </p:nvSpPr>
        <p:spPr>
          <a:xfrm>
            <a:off x="999925" y="6828092"/>
            <a:ext cx="3856873" cy="971360"/>
          </a:xfrm>
          <a:custGeom>
            <a:avLst/>
            <a:gdLst/>
            <a:ahLst/>
            <a:cxnLst/>
            <a:rect l="l" t="t" r="r" b="b"/>
            <a:pathLst>
              <a:path w="3856873" h="971360">
                <a:moveTo>
                  <a:pt x="0" y="0"/>
                </a:moveTo>
                <a:lnTo>
                  <a:pt x="3856872" y="0"/>
                </a:lnTo>
                <a:lnTo>
                  <a:pt x="3856872" y="971359"/>
                </a:lnTo>
                <a:lnTo>
                  <a:pt x="0" y="971359"/>
                </a:lnTo>
                <a:lnTo>
                  <a:pt x="0" y="0"/>
                </a:lnTo>
                <a:close/>
              </a:path>
            </a:pathLst>
          </a:custGeom>
          <a:blipFill>
            <a:blip r:embed="rId5"/>
            <a:stretch>
              <a:fillRect t="-1204" b="-1205"/>
            </a:stretch>
          </a:blipFill>
        </p:spPr>
        <p:txBody>
          <a:bodyPr/>
          <a:lstStyle/>
          <a:p>
            <a:endParaRPr lang="en-US"/>
          </a:p>
        </p:txBody>
      </p:sp>
      <p:grpSp>
        <p:nvGrpSpPr>
          <p:cNvPr id="15" name="Group 15"/>
          <p:cNvGrpSpPr/>
          <p:nvPr/>
        </p:nvGrpSpPr>
        <p:grpSpPr>
          <a:xfrm>
            <a:off x="985647" y="1785585"/>
            <a:ext cx="16298856" cy="671379"/>
            <a:chOff x="0" y="0"/>
            <a:chExt cx="21731808" cy="895172"/>
          </a:xfrm>
        </p:grpSpPr>
        <p:sp>
          <p:nvSpPr>
            <p:cNvPr id="16" name="Freeform 16"/>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17" name="TextBox 17"/>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The Gap: Expected vs. Actual</a:t>
              </a:r>
            </a:p>
          </p:txBody>
        </p:sp>
      </p:grpSp>
      <p:grpSp>
        <p:nvGrpSpPr>
          <p:cNvPr id="18" name="Group 18"/>
          <p:cNvGrpSpPr/>
          <p:nvPr/>
        </p:nvGrpSpPr>
        <p:grpSpPr>
          <a:xfrm>
            <a:off x="985647" y="3128353"/>
            <a:ext cx="7785164" cy="499967"/>
            <a:chOff x="0" y="0"/>
            <a:chExt cx="10380218" cy="666623"/>
          </a:xfrm>
        </p:grpSpPr>
        <p:sp>
          <p:nvSpPr>
            <p:cNvPr id="19" name="Freeform 19"/>
            <p:cNvSpPr/>
            <p:nvPr/>
          </p:nvSpPr>
          <p:spPr>
            <a:xfrm>
              <a:off x="0" y="0"/>
              <a:ext cx="10380223" cy="666620"/>
            </a:xfrm>
            <a:custGeom>
              <a:avLst/>
              <a:gdLst/>
              <a:ahLst/>
              <a:cxnLst/>
              <a:rect l="l" t="t" r="r" b="b"/>
              <a:pathLst>
                <a:path w="10380223" h="666620">
                  <a:moveTo>
                    <a:pt x="0" y="0"/>
                  </a:moveTo>
                  <a:lnTo>
                    <a:pt x="10380223" y="0"/>
                  </a:lnTo>
                  <a:lnTo>
                    <a:pt x="1038022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85725"/>
              <a:ext cx="10380218" cy="752348"/>
            </a:xfrm>
            <a:prstGeom prst="rect">
              <a:avLst/>
            </a:prstGeom>
          </p:spPr>
          <p:txBody>
            <a:bodyPr lIns="0" tIns="0" rIns="0" bIns="0" rtlCol="0" anchor="ctr"/>
            <a:lstStyle/>
            <a:p>
              <a:pPr algn="l">
                <a:lnSpc>
                  <a:spcPts val="4697"/>
                </a:lnSpc>
              </a:pPr>
              <a:r>
                <a:rPr lang="en-US" sz="3261" b="1">
                  <a:solidFill>
                    <a:srgbClr val="1A5276"/>
                  </a:solidFill>
                  <a:latin typeface="Ubuntu Bold"/>
                  <a:ea typeface="Ubuntu Bold"/>
                  <a:cs typeface="Ubuntu Bold"/>
                  <a:sym typeface="Ubuntu Bold"/>
                </a:rPr>
                <a:t>Conventional Expectation</a:t>
              </a:r>
            </a:p>
          </p:txBody>
        </p:sp>
      </p:grpSp>
      <p:grpSp>
        <p:nvGrpSpPr>
          <p:cNvPr id="21" name="Group 21"/>
          <p:cNvGrpSpPr/>
          <p:nvPr/>
        </p:nvGrpSpPr>
        <p:grpSpPr>
          <a:xfrm>
            <a:off x="2842660" y="5013931"/>
            <a:ext cx="314268" cy="371399"/>
            <a:chOff x="0" y="0"/>
            <a:chExt cx="419024" cy="495198"/>
          </a:xfrm>
        </p:grpSpPr>
        <p:sp>
          <p:nvSpPr>
            <p:cNvPr id="22" name="Freeform 22"/>
            <p:cNvSpPr/>
            <p:nvPr/>
          </p:nvSpPr>
          <p:spPr>
            <a:xfrm>
              <a:off x="0" y="0"/>
              <a:ext cx="419018" cy="495203"/>
            </a:xfrm>
            <a:custGeom>
              <a:avLst/>
              <a:gdLst/>
              <a:ahLst/>
              <a:cxnLst/>
              <a:rect l="l" t="t" r="r" b="b"/>
              <a:pathLst>
                <a:path w="419018" h="495203">
                  <a:moveTo>
                    <a:pt x="0" y="0"/>
                  </a:moveTo>
                  <a:lnTo>
                    <a:pt x="419018" y="0"/>
                  </a:lnTo>
                  <a:lnTo>
                    <a:pt x="419018" y="495203"/>
                  </a:lnTo>
                  <a:lnTo>
                    <a:pt x="0" y="495203"/>
                  </a:lnTo>
                  <a:close/>
                </a:path>
              </a:pathLst>
            </a:custGeom>
            <a:solidFill>
              <a:srgbClr val="000000">
                <a:alpha val="0"/>
              </a:srgbClr>
            </a:solidFill>
            <a:ln w="12700">
              <a:solidFill>
                <a:srgbClr val="000000"/>
              </a:solidFill>
            </a:ln>
          </p:spPr>
          <p:txBody>
            <a:bodyPr/>
            <a:lstStyle/>
            <a:p>
              <a:endParaRPr lang="en-US"/>
            </a:p>
          </p:txBody>
        </p:sp>
        <p:sp>
          <p:nvSpPr>
            <p:cNvPr id="23" name="TextBox 23"/>
            <p:cNvSpPr txBox="1"/>
            <p:nvPr/>
          </p:nvSpPr>
          <p:spPr>
            <a:xfrm>
              <a:off x="0" y="-66675"/>
              <a:ext cx="419024" cy="561873"/>
            </a:xfrm>
            <a:prstGeom prst="rect">
              <a:avLst/>
            </a:prstGeom>
          </p:spPr>
          <p:txBody>
            <a:bodyPr lIns="0" tIns="0" rIns="0" bIns="0" rtlCol="0" anchor="ctr"/>
            <a:lstStyle/>
            <a:p>
              <a:pPr algn="ctr">
                <a:lnSpc>
                  <a:spcPts val="3563"/>
                </a:lnSpc>
              </a:pPr>
              <a:r>
                <a:rPr lang="en-US" sz="2474" b="1">
                  <a:solidFill>
                    <a:srgbClr val="860000"/>
                  </a:solidFill>
                  <a:latin typeface="Ubuntu Bold"/>
                  <a:ea typeface="Ubuntu Bold"/>
                  <a:cs typeface="Ubuntu Bold"/>
                  <a:sym typeface="Ubuntu Bold"/>
                </a:rPr>
                <a:t>1</a:t>
              </a:r>
            </a:p>
          </p:txBody>
        </p:sp>
      </p:grpSp>
      <p:grpSp>
        <p:nvGrpSpPr>
          <p:cNvPr id="24" name="Group 24"/>
          <p:cNvGrpSpPr/>
          <p:nvPr/>
        </p:nvGrpSpPr>
        <p:grpSpPr>
          <a:xfrm>
            <a:off x="3856873" y="4985366"/>
            <a:ext cx="1214199" cy="414261"/>
            <a:chOff x="0" y="0"/>
            <a:chExt cx="1618932" cy="552348"/>
          </a:xfrm>
        </p:grpSpPr>
        <p:sp>
          <p:nvSpPr>
            <p:cNvPr id="25" name="Freeform 25"/>
            <p:cNvSpPr/>
            <p:nvPr/>
          </p:nvSpPr>
          <p:spPr>
            <a:xfrm>
              <a:off x="0" y="0"/>
              <a:ext cx="1618934" cy="552342"/>
            </a:xfrm>
            <a:custGeom>
              <a:avLst/>
              <a:gdLst/>
              <a:ahLst/>
              <a:cxnLst/>
              <a:rect l="l" t="t" r="r" b="b"/>
              <a:pathLst>
                <a:path w="1618934" h="552342">
                  <a:moveTo>
                    <a:pt x="0" y="0"/>
                  </a:moveTo>
                  <a:lnTo>
                    <a:pt x="1618934" y="0"/>
                  </a:lnTo>
                  <a:lnTo>
                    <a:pt x="1618934"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26" name="TextBox 26"/>
            <p:cNvSpPr txBox="1"/>
            <p:nvPr/>
          </p:nvSpPr>
          <p:spPr>
            <a:xfrm>
              <a:off x="0" y="-66675"/>
              <a:ext cx="1618932" cy="619023"/>
            </a:xfrm>
            <a:prstGeom prst="rect">
              <a:avLst/>
            </a:prstGeom>
          </p:spPr>
          <p:txBody>
            <a:bodyPr lIns="0" tIns="0" rIns="0" bIns="0" rtlCol="0" anchor="ctr"/>
            <a:lstStyle/>
            <a:p>
              <a:pPr algn="l">
                <a:lnSpc>
                  <a:spcPts val="3887"/>
                </a:lnSpc>
              </a:pPr>
              <a:r>
                <a:rPr lang="en-US" sz="2699" b="1">
                  <a:solidFill>
                    <a:srgbClr val="1A5276"/>
                  </a:solidFill>
                  <a:latin typeface="Ubuntu Bold"/>
                  <a:ea typeface="Ubuntu Bold"/>
                  <a:cs typeface="Ubuntu Bold"/>
                  <a:sym typeface="Ubuntu Bold"/>
                </a:rPr>
                <a:t>Income</a:t>
              </a:r>
            </a:p>
          </p:txBody>
        </p:sp>
      </p:grpSp>
      <p:grpSp>
        <p:nvGrpSpPr>
          <p:cNvPr id="27" name="Group 27"/>
          <p:cNvGrpSpPr/>
          <p:nvPr/>
        </p:nvGrpSpPr>
        <p:grpSpPr>
          <a:xfrm>
            <a:off x="2842660" y="6071006"/>
            <a:ext cx="314268" cy="371399"/>
            <a:chOff x="0" y="0"/>
            <a:chExt cx="419024" cy="495198"/>
          </a:xfrm>
        </p:grpSpPr>
        <p:sp>
          <p:nvSpPr>
            <p:cNvPr id="28" name="Freeform 28"/>
            <p:cNvSpPr/>
            <p:nvPr/>
          </p:nvSpPr>
          <p:spPr>
            <a:xfrm>
              <a:off x="0" y="0"/>
              <a:ext cx="419018" cy="495203"/>
            </a:xfrm>
            <a:custGeom>
              <a:avLst/>
              <a:gdLst/>
              <a:ahLst/>
              <a:cxnLst/>
              <a:rect l="l" t="t" r="r" b="b"/>
              <a:pathLst>
                <a:path w="419018" h="495203">
                  <a:moveTo>
                    <a:pt x="0" y="0"/>
                  </a:moveTo>
                  <a:lnTo>
                    <a:pt x="419018" y="0"/>
                  </a:lnTo>
                  <a:lnTo>
                    <a:pt x="419018" y="495203"/>
                  </a:lnTo>
                  <a:lnTo>
                    <a:pt x="0" y="495203"/>
                  </a:lnTo>
                  <a:close/>
                </a:path>
              </a:pathLst>
            </a:custGeom>
            <a:solidFill>
              <a:srgbClr val="000000">
                <a:alpha val="0"/>
              </a:srgbClr>
            </a:solidFill>
            <a:ln w="12700">
              <a:solidFill>
                <a:srgbClr val="000000"/>
              </a:solidFill>
            </a:ln>
          </p:spPr>
          <p:txBody>
            <a:bodyPr/>
            <a:lstStyle/>
            <a:p>
              <a:endParaRPr lang="en-US"/>
            </a:p>
          </p:txBody>
        </p:sp>
        <p:sp>
          <p:nvSpPr>
            <p:cNvPr id="29" name="TextBox 29"/>
            <p:cNvSpPr txBox="1"/>
            <p:nvPr/>
          </p:nvSpPr>
          <p:spPr>
            <a:xfrm>
              <a:off x="0" y="-66675"/>
              <a:ext cx="419024" cy="561873"/>
            </a:xfrm>
            <a:prstGeom prst="rect">
              <a:avLst/>
            </a:prstGeom>
          </p:spPr>
          <p:txBody>
            <a:bodyPr lIns="0" tIns="0" rIns="0" bIns="0" rtlCol="0" anchor="ctr"/>
            <a:lstStyle/>
            <a:p>
              <a:pPr algn="ctr">
                <a:lnSpc>
                  <a:spcPts val="3563"/>
                </a:lnSpc>
              </a:pPr>
              <a:r>
                <a:rPr lang="en-US" sz="2474" b="1">
                  <a:solidFill>
                    <a:srgbClr val="860000"/>
                  </a:solidFill>
                  <a:latin typeface="Ubuntu Bold"/>
                  <a:ea typeface="Ubuntu Bold"/>
                  <a:cs typeface="Ubuntu Bold"/>
                  <a:sym typeface="Ubuntu Bold"/>
                </a:rPr>
                <a:t>2</a:t>
              </a:r>
            </a:p>
          </p:txBody>
        </p:sp>
      </p:grpSp>
      <p:grpSp>
        <p:nvGrpSpPr>
          <p:cNvPr id="30" name="Group 30"/>
          <p:cNvGrpSpPr/>
          <p:nvPr/>
        </p:nvGrpSpPr>
        <p:grpSpPr>
          <a:xfrm>
            <a:off x="4499686" y="6042431"/>
            <a:ext cx="657101" cy="414261"/>
            <a:chOff x="0" y="0"/>
            <a:chExt cx="876135" cy="552348"/>
          </a:xfrm>
        </p:grpSpPr>
        <p:sp>
          <p:nvSpPr>
            <p:cNvPr id="31" name="Freeform 31"/>
            <p:cNvSpPr/>
            <p:nvPr/>
          </p:nvSpPr>
          <p:spPr>
            <a:xfrm>
              <a:off x="0" y="0"/>
              <a:ext cx="876129" cy="552342"/>
            </a:xfrm>
            <a:custGeom>
              <a:avLst/>
              <a:gdLst/>
              <a:ahLst/>
              <a:cxnLst/>
              <a:rect l="l" t="t" r="r" b="b"/>
              <a:pathLst>
                <a:path w="876129" h="552342">
                  <a:moveTo>
                    <a:pt x="0" y="0"/>
                  </a:moveTo>
                  <a:lnTo>
                    <a:pt x="876129" y="0"/>
                  </a:lnTo>
                  <a:lnTo>
                    <a:pt x="876129"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32" name="TextBox 32"/>
            <p:cNvSpPr txBox="1"/>
            <p:nvPr/>
          </p:nvSpPr>
          <p:spPr>
            <a:xfrm>
              <a:off x="0" y="-66675"/>
              <a:ext cx="876135" cy="619023"/>
            </a:xfrm>
            <a:prstGeom prst="rect">
              <a:avLst/>
            </a:prstGeom>
          </p:spPr>
          <p:txBody>
            <a:bodyPr lIns="0" tIns="0" rIns="0" bIns="0" rtlCol="0" anchor="ctr"/>
            <a:lstStyle/>
            <a:p>
              <a:pPr algn="l">
                <a:lnSpc>
                  <a:spcPts val="3887"/>
                </a:lnSpc>
              </a:pPr>
              <a:r>
                <a:rPr lang="en-US" sz="2699" b="1">
                  <a:solidFill>
                    <a:srgbClr val="1A5276"/>
                  </a:solidFill>
                  <a:latin typeface="Ubuntu Bold"/>
                  <a:ea typeface="Ubuntu Bold"/>
                  <a:cs typeface="Ubuntu Bold"/>
                  <a:sym typeface="Ubuntu Bold"/>
                </a:rPr>
                <a:t>Age</a:t>
              </a:r>
            </a:p>
          </p:txBody>
        </p:sp>
      </p:grpSp>
      <p:grpSp>
        <p:nvGrpSpPr>
          <p:cNvPr id="33" name="Group 33"/>
          <p:cNvGrpSpPr/>
          <p:nvPr/>
        </p:nvGrpSpPr>
        <p:grpSpPr>
          <a:xfrm>
            <a:off x="2842660" y="7128072"/>
            <a:ext cx="314268" cy="371399"/>
            <a:chOff x="0" y="0"/>
            <a:chExt cx="419024" cy="495198"/>
          </a:xfrm>
        </p:grpSpPr>
        <p:sp>
          <p:nvSpPr>
            <p:cNvPr id="34" name="Freeform 34"/>
            <p:cNvSpPr/>
            <p:nvPr/>
          </p:nvSpPr>
          <p:spPr>
            <a:xfrm>
              <a:off x="0" y="0"/>
              <a:ext cx="419018" cy="495203"/>
            </a:xfrm>
            <a:custGeom>
              <a:avLst/>
              <a:gdLst/>
              <a:ahLst/>
              <a:cxnLst/>
              <a:rect l="l" t="t" r="r" b="b"/>
              <a:pathLst>
                <a:path w="419018" h="495203">
                  <a:moveTo>
                    <a:pt x="0" y="0"/>
                  </a:moveTo>
                  <a:lnTo>
                    <a:pt x="419018" y="0"/>
                  </a:lnTo>
                  <a:lnTo>
                    <a:pt x="419018" y="495203"/>
                  </a:lnTo>
                  <a:lnTo>
                    <a:pt x="0" y="495203"/>
                  </a:lnTo>
                  <a:close/>
                </a:path>
              </a:pathLst>
            </a:custGeom>
            <a:solidFill>
              <a:srgbClr val="000000">
                <a:alpha val="0"/>
              </a:srgbClr>
            </a:solidFill>
            <a:ln w="12700">
              <a:solidFill>
                <a:srgbClr val="000000"/>
              </a:solidFill>
            </a:ln>
          </p:spPr>
          <p:txBody>
            <a:bodyPr/>
            <a:lstStyle/>
            <a:p>
              <a:endParaRPr lang="en-US"/>
            </a:p>
          </p:txBody>
        </p:sp>
        <p:sp>
          <p:nvSpPr>
            <p:cNvPr id="35" name="TextBox 35"/>
            <p:cNvSpPr txBox="1"/>
            <p:nvPr/>
          </p:nvSpPr>
          <p:spPr>
            <a:xfrm>
              <a:off x="0" y="-66675"/>
              <a:ext cx="419024" cy="561873"/>
            </a:xfrm>
            <a:prstGeom prst="rect">
              <a:avLst/>
            </a:prstGeom>
          </p:spPr>
          <p:txBody>
            <a:bodyPr lIns="0" tIns="0" rIns="0" bIns="0" rtlCol="0" anchor="ctr"/>
            <a:lstStyle/>
            <a:p>
              <a:pPr algn="ctr">
                <a:lnSpc>
                  <a:spcPts val="3563"/>
                </a:lnSpc>
              </a:pPr>
              <a:r>
                <a:rPr lang="en-US" sz="2474" b="1">
                  <a:solidFill>
                    <a:srgbClr val="860000"/>
                  </a:solidFill>
                  <a:latin typeface="Ubuntu Bold"/>
                  <a:ea typeface="Ubuntu Bold"/>
                  <a:cs typeface="Ubuntu Bold"/>
                  <a:sym typeface="Ubuntu Bold"/>
                </a:rPr>
                <a:t>3</a:t>
              </a:r>
            </a:p>
          </p:txBody>
        </p:sp>
      </p:grpSp>
      <p:grpSp>
        <p:nvGrpSpPr>
          <p:cNvPr id="36" name="Group 36"/>
          <p:cNvGrpSpPr/>
          <p:nvPr/>
        </p:nvGrpSpPr>
        <p:grpSpPr>
          <a:xfrm>
            <a:off x="5142500" y="7113784"/>
            <a:ext cx="1228487" cy="414261"/>
            <a:chOff x="0" y="0"/>
            <a:chExt cx="1637982" cy="552348"/>
          </a:xfrm>
        </p:grpSpPr>
        <p:sp>
          <p:nvSpPr>
            <p:cNvPr id="37" name="Freeform 37"/>
            <p:cNvSpPr/>
            <p:nvPr/>
          </p:nvSpPr>
          <p:spPr>
            <a:xfrm>
              <a:off x="0" y="0"/>
              <a:ext cx="1637980" cy="552342"/>
            </a:xfrm>
            <a:custGeom>
              <a:avLst/>
              <a:gdLst/>
              <a:ahLst/>
              <a:cxnLst/>
              <a:rect l="l" t="t" r="r" b="b"/>
              <a:pathLst>
                <a:path w="1637980" h="552342">
                  <a:moveTo>
                    <a:pt x="0" y="0"/>
                  </a:moveTo>
                  <a:lnTo>
                    <a:pt x="1637980" y="0"/>
                  </a:lnTo>
                  <a:lnTo>
                    <a:pt x="1637980"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38" name="TextBox 38"/>
            <p:cNvSpPr txBox="1"/>
            <p:nvPr/>
          </p:nvSpPr>
          <p:spPr>
            <a:xfrm>
              <a:off x="0" y="-66675"/>
              <a:ext cx="1637982" cy="619023"/>
            </a:xfrm>
            <a:prstGeom prst="rect">
              <a:avLst/>
            </a:prstGeom>
          </p:spPr>
          <p:txBody>
            <a:bodyPr lIns="0" tIns="0" rIns="0" bIns="0" rtlCol="0" anchor="ctr"/>
            <a:lstStyle/>
            <a:p>
              <a:pPr algn="l">
                <a:lnSpc>
                  <a:spcPts val="3887"/>
                </a:lnSpc>
              </a:pPr>
              <a:r>
                <a:rPr lang="en-US" sz="2699" b="1">
                  <a:solidFill>
                    <a:srgbClr val="1A5276"/>
                  </a:solidFill>
                  <a:latin typeface="Ubuntu Bold"/>
                  <a:ea typeface="Ubuntu Bold"/>
                  <a:cs typeface="Ubuntu Bold"/>
                  <a:sym typeface="Ubuntu Bold"/>
                </a:rPr>
                <a:t>Gender</a:t>
              </a:r>
            </a:p>
          </p:txBody>
        </p:sp>
      </p:grpSp>
      <p:grpSp>
        <p:nvGrpSpPr>
          <p:cNvPr id="39" name="Group 39"/>
          <p:cNvGrpSpPr/>
          <p:nvPr/>
        </p:nvGrpSpPr>
        <p:grpSpPr>
          <a:xfrm>
            <a:off x="9485052" y="3128353"/>
            <a:ext cx="7785164" cy="499967"/>
            <a:chOff x="0" y="0"/>
            <a:chExt cx="10380218" cy="666623"/>
          </a:xfrm>
        </p:grpSpPr>
        <p:sp>
          <p:nvSpPr>
            <p:cNvPr id="40" name="Freeform 40"/>
            <p:cNvSpPr/>
            <p:nvPr/>
          </p:nvSpPr>
          <p:spPr>
            <a:xfrm>
              <a:off x="0" y="0"/>
              <a:ext cx="10380223" cy="666620"/>
            </a:xfrm>
            <a:custGeom>
              <a:avLst/>
              <a:gdLst/>
              <a:ahLst/>
              <a:cxnLst/>
              <a:rect l="l" t="t" r="r" b="b"/>
              <a:pathLst>
                <a:path w="10380223" h="666620">
                  <a:moveTo>
                    <a:pt x="0" y="0"/>
                  </a:moveTo>
                  <a:lnTo>
                    <a:pt x="10380223" y="0"/>
                  </a:lnTo>
                  <a:lnTo>
                    <a:pt x="1038022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41" name="TextBox 41"/>
            <p:cNvSpPr txBox="1"/>
            <p:nvPr/>
          </p:nvSpPr>
          <p:spPr>
            <a:xfrm>
              <a:off x="0" y="-85725"/>
              <a:ext cx="10380218" cy="752348"/>
            </a:xfrm>
            <a:prstGeom prst="rect">
              <a:avLst/>
            </a:prstGeom>
          </p:spPr>
          <p:txBody>
            <a:bodyPr lIns="0" tIns="0" rIns="0" bIns="0" rtlCol="0" anchor="ctr"/>
            <a:lstStyle/>
            <a:p>
              <a:pPr algn="l">
                <a:lnSpc>
                  <a:spcPts val="4697"/>
                </a:lnSpc>
              </a:pPr>
              <a:r>
                <a:rPr lang="en-US" sz="3261" b="1">
                  <a:solidFill>
                    <a:srgbClr val="6E2C00"/>
                  </a:solidFill>
                  <a:latin typeface="Ubuntu Bold"/>
                  <a:ea typeface="Ubuntu Bold"/>
                  <a:cs typeface="Ubuntu Bold"/>
                  <a:sym typeface="Ubuntu Bold"/>
                </a:rPr>
                <a:t>What the Data Shows</a:t>
              </a:r>
            </a:p>
          </p:txBody>
        </p:sp>
      </p:grpSp>
      <p:grpSp>
        <p:nvGrpSpPr>
          <p:cNvPr id="42" name="Group 42"/>
          <p:cNvGrpSpPr/>
          <p:nvPr/>
        </p:nvGrpSpPr>
        <p:grpSpPr>
          <a:xfrm>
            <a:off x="9485052" y="4699673"/>
            <a:ext cx="7785164" cy="414261"/>
            <a:chOff x="0" y="0"/>
            <a:chExt cx="10380218" cy="552348"/>
          </a:xfrm>
        </p:grpSpPr>
        <p:sp>
          <p:nvSpPr>
            <p:cNvPr id="43" name="Freeform 43"/>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44" name="TextBox 44"/>
            <p:cNvSpPr txBox="1"/>
            <p:nvPr/>
          </p:nvSpPr>
          <p:spPr>
            <a:xfrm>
              <a:off x="0" y="-66675"/>
              <a:ext cx="10380218" cy="619023"/>
            </a:xfrm>
            <a:prstGeom prst="rect">
              <a:avLst/>
            </a:prstGeom>
          </p:spPr>
          <p:txBody>
            <a:bodyPr lIns="0" tIns="0" rIns="0" bIns="0" rtlCol="0" anchor="ctr"/>
            <a:lstStyle/>
            <a:p>
              <a:pPr algn="l">
                <a:lnSpc>
                  <a:spcPts val="3887"/>
                </a:lnSpc>
              </a:pPr>
              <a:r>
                <a:rPr lang="en-US" sz="2699" b="1">
                  <a:solidFill>
                    <a:srgbClr val="6E2C00"/>
                  </a:solidFill>
                  <a:latin typeface="Ubuntu Bold"/>
                  <a:ea typeface="Ubuntu Bold"/>
                  <a:cs typeface="Ubuntu Bold"/>
                  <a:sym typeface="Ubuntu Bold"/>
                </a:rPr>
                <a:t>Income</a:t>
              </a:r>
            </a:p>
          </p:txBody>
        </p:sp>
      </p:grpSp>
      <p:grpSp>
        <p:nvGrpSpPr>
          <p:cNvPr id="45" name="Group 45"/>
          <p:cNvGrpSpPr/>
          <p:nvPr/>
        </p:nvGrpSpPr>
        <p:grpSpPr>
          <a:xfrm>
            <a:off x="9485052" y="5642458"/>
            <a:ext cx="7785164" cy="414261"/>
            <a:chOff x="0" y="0"/>
            <a:chExt cx="10380218" cy="552348"/>
          </a:xfrm>
        </p:grpSpPr>
        <p:sp>
          <p:nvSpPr>
            <p:cNvPr id="46" name="Freeform 46"/>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47" name="TextBox 47"/>
            <p:cNvSpPr txBox="1"/>
            <p:nvPr/>
          </p:nvSpPr>
          <p:spPr>
            <a:xfrm>
              <a:off x="0" y="-66675"/>
              <a:ext cx="10380218" cy="619023"/>
            </a:xfrm>
            <a:prstGeom prst="rect">
              <a:avLst/>
            </a:prstGeom>
          </p:spPr>
          <p:txBody>
            <a:bodyPr lIns="0" tIns="0" rIns="0" bIns="0" rtlCol="0" anchor="ctr"/>
            <a:lstStyle/>
            <a:p>
              <a:pPr algn="l">
                <a:lnSpc>
                  <a:spcPts val="3887"/>
                </a:lnSpc>
              </a:pPr>
              <a:r>
                <a:rPr lang="en-US" sz="2699" b="1">
                  <a:solidFill>
                    <a:srgbClr val="6E2C00"/>
                  </a:solidFill>
                  <a:latin typeface="Ubuntu Bold"/>
                  <a:ea typeface="Ubuntu Bold"/>
                  <a:cs typeface="Ubuntu Bold"/>
                  <a:sym typeface="Ubuntu Bold"/>
                </a:rPr>
                <a:t>Age</a:t>
              </a:r>
            </a:p>
          </p:txBody>
        </p:sp>
      </p:grpSp>
      <p:grpSp>
        <p:nvGrpSpPr>
          <p:cNvPr id="48" name="Group 48"/>
          <p:cNvGrpSpPr/>
          <p:nvPr/>
        </p:nvGrpSpPr>
        <p:grpSpPr>
          <a:xfrm>
            <a:off x="985647" y="3956866"/>
            <a:ext cx="7785164" cy="414261"/>
            <a:chOff x="0" y="0"/>
            <a:chExt cx="10380218" cy="552348"/>
          </a:xfrm>
        </p:grpSpPr>
        <p:sp>
          <p:nvSpPr>
            <p:cNvPr id="49" name="Freeform 49"/>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50" name="TextBox 50"/>
            <p:cNvSpPr txBox="1"/>
            <p:nvPr/>
          </p:nvSpPr>
          <p:spPr>
            <a:xfrm>
              <a:off x="0" y="-142875"/>
              <a:ext cx="10380218"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Income strongest, Age moderate, Gender weakest</a:t>
              </a:r>
            </a:p>
          </p:txBody>
        </p:sp>
      </p:grpSp>
      <p:grpSp>
        <p:nvGrpSpPr>
          <p:cNvPr id="51" name="Group 51"/>
          <p:cNvGrpSpPr/>
          <p:nvPr/>
        </p:nvGrpSpPr>
        <p:grpSpPr>
          <a:xfrm>
            <a:off x="9485052" y="3956866"/>
            <a:ext cx="7785164" cy="414261"/>
            <a:chOff x="0" y="0"/>
            <a:chExt cx="10380218" cy="552348"/>
          </a:xfrm>
        </p:grpSpPr>
        <p:sp>
          <p:nvSpPr>
            <p:cNvPr id="52" name="Freeform 52"/>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53" name="TextBox 53"/>
            <p:cNvSpPr txBox="1"/>
            <p:nvPr/>
          </p:nvSpPr>
          <p:spPr>
            <a:xfrm>
              <a:off x="0" y="-142875"/>
              <a:ext cx="10380218"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Income and Age similar strength, Gender adds little</a:t>
              </a:r>
            </a:p>
          </p:txBody>
        </p:sp>
      </p:grpSp>
      <p:grpSp>
        <p:nvGrpSpPr>
          <p:cNvPr id="54" name="Group 54"/>
          <p:cNvGrpSpPr/>
          <p:nvPr/>
        </p:nvGrpSpPr>
        <p:grpSpPr>
          <a:xfrm>
            <a:off x="9485052" y="6385265"/>
            <a:ext cx="7785164" cy="414261"/>
            <a:chOff x="0" y="0"/>
            <a:chExt cx="10380218" cy="552348"/>
          </a:xfrm>
        </p:grpSpPr>
        <p:sp>
          <p:nvSpPr>
            <p:cNvPr id="55" name="Freeform 55"/>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56" name="TextBox 56"/>
            <p:cNvSpPr txBox="1"/>
            <p:nvPr/>
          </p:nvSpPr>
          <p:spPr>
            <a:xfrm>
              <a:off x="0" y="-142875"/>
              <a:ext cx="10380218"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Gender</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3114065"/>
            <a:ext cx="16298856" cy="671379"/>
            <a:chOff x="0" y="0"/>
            <a:chExt cx="21731808" cy="895172"/>
          </a:xfrm>
        </p:grpSpPr>
        <p:sp>
          <p:nvSpPr>
            <p:cNvPr id="7" name="Freeform 7"/>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8" name="TextBox 8"/>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Individual-Level Predictions</a:t>
              </a:r>
            </a:p>
          </p:txBody>
        </p:sp>
      </p:grpSp>
      <p:grpSp>
        <p:nvGrpSpPr>
          <p:cNvPr id="9" name="Group 9"/>
          <p:cNvGrpSpPr/>
          <p:nvPr/>
        </p:nvGrpSpPr>
        <p:grpSpPr>
          <a:xfrm>
            <a:off x="985647" y="4471111"/>
            <a:ext cx="7785164" cy="414261"/>
            <a:chOff x="0" y="0"/>
            <a:chExt cx="10380218" cy="552348"/>
          </a:xfrm>
        </p:grpSpPr>
        <p:sp>
          <p:nvSpPr>
            <p:cNvPr id="10" name="Freeform 10"/>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11" name="TextBox 11"/>
            <p:cNvSpPr txBox="1"/>
            <p:nvPr/>
          </p:nvSpPr>
          <p:spPr>
            <a:xfrm>
              <a:off x="0" y="-142875"/>
              <a:ext cx="10380218"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Predicted Probabilities by Income Here</a:t>
              </a:r>
            </a:p>
          </p:txBody>
        </p:sp>
      </p:grpSp>
      <p:grpSp>
        <p:nvGrpSpPr>
          <p:cNvPr id="12" name="Group 12"/>
          <p:cNvGrpSpPr/>
          <p:nvPr/>
        </p:nvGrpSpPr>
        <p:grpSpPr>
          <a:xfrm>
            <a:off x="985647" y="5213918"/>
            <a:ext cx="7785164" cy="1271340"/>
            <a:chOff x="0" y="0"/>
            <a:chExt cx="10380218" cy="1695120"/>
          </a:xfrm>
        </p:grpSpPr>
        <p:sp>
          <p:nvSpPr>
            <p:cNvPr id="13" name="Freeform 13"/>
            <p:cNvSpPr/>
            <p:nvPr/>
          </p:nvSpPr>
          <p:spPr>
            <a:xfrm>
              <a:off x="0" y="0"/>
              <a:ext cx="10380223" cy="1695119"/>
            </a:xfrm>
            <a:custGeom>
              <a:avLst/>
              <a:gdLst/>
              <a:ahLst/>
              <a:cxnLst/>
              <a:rect l="l" t="t" r="r" b="b"/>
              <a:pathLst>
                <a:path w="10380223" h="1695119">
                  <a:moveTo>
                    <a:pt x="0" y="0"/>
                  </a:moveTo>
                  <a:lnTo>
                    <a:pt x="10380223" y="0"/>
                  </a:lnTo>
                  <a:lnTo>
                    <a:pt x="10380223" y="1695119"/>
                  </a:lnTo>
                  <a:lnTo>
                    <a:pt x="0" y="1695119"/>
                  </a:lnTo>
                  <a:close/>
                </a:path>
              </a:pathLst>
            </a:custGeom>
            <a:solidFill>
              <a:srgbClr val="000000">
                <a:alpha val="0"/>
              </a:srgbClr>
            </a:solidFill>
            <a:ln w="12700">
              <a:solidFill>
                <a:srgbClr val="000000"/>
              </a:solidFill>
            </a:ln>
          </p:spPr>
          <p:txBody>
            <a:bodyPr/>
            <a:lstStyle/>
            <a:p>
              <a:endParaRPr lang="en-US"/>
            </a:p>
          </p:txBody>
        </p:sp>
        <p:sp>
          <p:nvSpPr>
            <p:cNvPr id="14" name="TextBox 14"/>
            <p:cNvSpPr txBox="1"/>
            <p:nvPr/>
          </p:nvSpPr>
          <p:spPr>
            <a:xfrm>
              <a:off x="0" y="-142875"/>
              <a:ext cx="10380218" cy="1837995"/>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(placeholder for scatter plot or trend line showing how income relates to predicted party affiliation probability)</a:t>
              </a:r>
            </a:p>
          </p:txBody>
        </p:sp>
      </p:grpSp>
      <p:grpSp>
        <p:nvGrpSpPr>
          <p:cNvPr id="15" name="Group 15"/>
          <p:cNvGrpSpPr/>
          <p:nvPr/>
        </p:nvGrpSpPr>
        <p:grpSpPr>
          <a:xfrm>
            <a:off x="9485052" y="4471111"/>
            <a:ext cx="7785164" cy="414261"/>
            <a:chOff x="0" y="0"/>
            <a:chExt cx="10380218" cy="552348"/>
          </a:xfrm>
        </p:grpSpPr>
        <p:sp>
          <p:nvSpPr>
            <p:cNvPr id="16" name="Freeform 16"/>
            <p:cNvSpPr/>
            <p:nvPr/>
          </p:nvSpPr>
          <p:spPr>
            <a:xfrm>
              <a:off x="0" y="0"/>
              <a:ext cx="10380223" cy="552342"/>
            </a:xfrm>
            <a:custGeom>
              <a:avLst/>
              <a:gdLst/>
              <a:ahLst/>
              <a:cxnLst/>
              <a:rect l="l" t="t" r="r" b="b"/>
              <a:pathLst>
                <a:path w="10380223" h="552342">
                  <a:moveTo>
                    <a:pt x="0" y="0"/>
                  </a:moveTo>
                  <a:lnTo>
                    <a:pt x="10380223" y="0"/>
                  </a:lnTo>
                  <a:lnTo>
                    <a:pt x="10380223"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17" name="TextBox 17"/>
            <p:cNvSpPr txBox="1"/>
            <p:nvPr/>
          </p:nvSpPr>
          <p:spPr>
            <a:xfrm>
              <a:off x="0" y="-142875"/>
              <a:ext cx="10380218"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Age Effect Visualization Here</a:t>
              </a:r>
            </a:p>
          </p:txBody>
        </p:sp>
      </p:grpSp>
      <p:grpSp>
        <p:nvGrpSpPr>
          <p:cNvPr id="18" name="Group 18"/>
          <p:cNvGrpSpPr/>
          <p:nvPr/>
        </p:nvGrpSpPr>
        <p:grpSpPr>
          <a:xfrm>
            <a:off x="9485052" y="5213918"/>
            <a:ext cx="7785164" cy="842801"/>
            <a:chOff x="0" y="0"/>
            <a:chExt cx="10380218" cy="1123734"/>
          </a:xfrm>
        </p:grpSpPr>
        <p:sp>
          <p:nvSpPr>
            <p:cNvPr id="19" name="Freeform 19"/>
            <p:cNvSpPr/>
            <p:nvPr/>
          </p:nvSpPr>
          <p:spPr>
            <a:xfrm>
              <a:off x="0" y="0"/>
              <a:ext cx="10380223" cy="1123731"/>
            </a:xfrm>
            <a:custGeom>
              <a:avLst/>
              <a:gdLst/>
              <a:ahLst/>
              <a:cxnLst/>
              <a:rect l="l" t="t" r="r" b="b"/>
              <a:pathLst>
                <a:path w="10380223" h="1123731">
                  <a:moveTo>
                    <a:pt x="0" y="0"/>
                  </a:moveTo>
                  <a:lnTo>
                    <a:pt x="10380223" y="0"/>
                  </a:lnTo>
                  <a:lnTo>
                    <a:pt x="10380223"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142875"/>
              <a:ext cx="10380218"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(placeholder for line chart or heatmap showing age-based predictive patterns)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3285487"/>
            <a:ext cx="16298856" cy="671379"/>
            <a:chOff x="0" y="0"/>
            <a:chExt cx="21731808" cy="895172"/>
          </a:xfrm>
        </p:grpSpPr>
        <p:sp>
          <p:nvSpPr>
            <p:cNvPr id="7" name="Freeform 7"/>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8" name="TextBox 8"/>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Model Performance &amp; Results</a:t>
              </a:r>
            </a:p>
          </p:txBody>
        </p:sp>
      </p:grpSp>
      <p:grpSp>
        <p:nvGrpSpPr>
          <p:cNvPr id="9" name="Group 9"/>
          <p:cNvGrpSpPr/>
          <p:nvPr/>
        </p:nvGrpSpPr>
        <p:grpSpPr>
          <a:xfrm>
            <a:off x="985647" y="4642533"/>
            <a:ext cx="7785164" cy="499967"/>
            <a:chOff x="0" y="0"/>
            <a:chExt cx="10380218" cy="666623"/>
          </a:xfrm>
        </p:grpSpPr>
        <p:sp>
          <p:nvSpPr>
            <p:cNvPr id="10" name="Freeform 10"/>
            <p:cNvSpPr/>
            <p:nvPr/>
          </p:nvSpPr>
          <p:spPr>
            <a:xfrm>
              <a:off x="0" y="0"/>
              <a:ext cx="10380223" cy="666620"/>
            </a:xfrm>
            <a:custGeom>
              <a:avLst/>
              <a:gdLst/>
              <a:ahLst/>
              <a:cxnLst/>
              <a:rect l="l" t="t" r="r" b="b"/>
              <a:pathLst>
                <a:path w="10380223" h="666620">
                  <a:moveTo>
                    <a:pt x="0" y="0"/>
                  </a:moveTo>
                  <a:lnTo>
                    <a:pt x="10380223" y="0"/>
                  </a:lnTo>
                  <a:lnTo>
                    <a:pt x="1038022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11" name="TextBox 11"/>
            <p:cNvSpPr txBox="1"/>
            <p:nvPr/>
          </p:nvSpPr>
          <p:spPr>
            <a:xfrm>
              <a:off x="0" y="-85725"/>
              <a:ext cx="10380218"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Variable Importance Chart Here</a:t>
              </a:r>
            </a:p>
          </p:txBody>
        </p:sp>
      </p:grpSp>
      <p:grpSp>
        <p:nvGrpSpPr>
          <p:cNvPr id="12" name="Group 12"/>
          <p:cNvGrpSpPr/>
          <p:nvPr/>
        </p:nvGrpSpPr>
        <p:grpSpPr>
          <a:xfrm>
            <a:off x="9485052" y="4642533"/>
            <a:ext cx="7785164" cy="499967"/>
            <a:chOff x="0" y="0"/>
            <a:chExt cx="10380218" cy="666623"/>
          </a:xfrm>
        </p:grpSpPr>
        <p:sp>
          <p:nvSpPr>
            <p:cNvPr id="13" name="Freeform 13"/>
            <p:cNvSpPr/>
            <p:nvPr/>
          </p:nvSpPr>
          <p:spPr>
            <a:xfrm>
              <a:off x="0" y="0"/>
              <a:ext cx="10380223" cy="666620"/>
            </a:xfrm>
            <a:custGeom>
              <a:avLst/>
              <a:gdLst/>
              <a:ahLst/>
              <a:cxnLst/>
              <a:rect l="l" t="t" r="r" b="b"/>
              <a:pathLst>
                <a:path w="10380223" h="666620">
                  <a:moveTo>
                    <a:pt x="0" y="0"/>
                  </a:moveTo>
                  <a:lnTo>
                    <a:pt x="10380223" y="0"/>
                  </a:lnTo>
                  <a:lnTo>
                    <a:pt x="1038022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14" name="TextBox 14"/>
            <p:cNvSpPr txBox="1"/>
            <p:nvPr/>
          </p:nvSpPr>
          <p:spPr>
            <a:xfrm>
              <a:off x="0" y="-85725"/>
              <a:ext cx="10380218"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Model Accuracy Visualization Here</a:t>
              </a:r>
            </a:p>
          </p:txBody>
        </p:sp>
      </p:grpSp>
      <p:grpSp>
        <p:nvGrpSpPr>
          <p:cNvPr id="15" name="Group 15"/>
          <p:cNvGrpSpPr/>
          <p:nvPr/>
        </p:nvGrpSpPr>
        <p:grpSpPr>
          <a:xfrm>
            <a:off x="985647" y="5471046"/>
            <a:ext cx="7785164" cy="842801"/>
            <a:chOff x="0" y="0"/>
            <a:chExt cx="10380218" cy="1123734"/>
          </a:xfrm>
        </p:grpSpPr>
        <p:sp>
          <p:nvSpPr>
            <p:cNvPr id="16" name="Freeform 16"/>
            <p:cNvSpPr/>
            <p:nvPr/>
          </p:nvSpPr>
          <p:spPr>
            <a:xfrm>
              <a:off x="0" y="0"/>
              <a:ext cx="10380223" cy="1123731"/>
            </a:xfrm>
            <a:custGeom>
              <a:avLst/>
              <a:gdLst/>
              <a:ahLst/>
              <a:cxnLst/>
              <a:rect l="l" t="t" r="r" b="b"/>
              <a:pathLst>
                <a:path w="10380223" h="1123731">
                  <a:moveTo>
                    <a:pt x="0" y="0"/>
                  </a:moveTo>
                  <a:lnTo>
                    <a:pt x="10380223" y="0"/>
                  </a:lnTo>
                  <a:lnTo>
                    <a:pt x="10380223"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17" name="TextBox 17"/>
            <p:cNvSpPr txBox="1"/>
            <p:nvPr/>
          </p:nvSpPr>
          <p:spPr>
            <a:xfrm>
              <a:off x="0" y="-142875"/>
              <a:ext cx="10380218"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Placeholder for bar chart showing income, age, gender predictive strength</a:t>
              </a:r>
            </a:p>
          </p:txBody>
        </p:sp>
      </p:grpSp>
      <p:grpSp>
        <p:nvGrpSpPr>
          <p:cNvPr id="18" name="Group 18"/>
          <p:cNvGrpSpPr/>
          <p:nvPr/>
        </p:nvGrpSpPr>
        <p:grpSpPr>
          <a:xfrm>
            <a:off x="9485052" y="5471046"/>
            <a:ext cx="7785164" cy="842801"/>
            <a:chOff x="0" y="0"/>
            <a:chExt cx="10380218" cy="1123734"/>
          </a:xfrm>
        </p:grpSpPr>
        <p:sp>
          <p:nvSpPr>
            <p:cNvPr id="19" name="Freeform 19"/>
            <p:cNvSpPr/>
            <p:nvPr/>
          </p:nvSpPr>
          <p:spPr>
            <a:xfrm>
              <a:off x="0" y="0"/>
              <a:ext cx="10380223" cy="1123731"/>
            </a:xfrm>
            <a:custGeom>
              <a:avLst/>
              <a:gdLst/>
              <a:ahLst/>
              <a:cxnLst/>
              <a:rect l="l" t="t" r="r" b="b"/>
              <a:pathLst>
                <a:path w="10380223" h="1123731">
                  <a:moveTo>
                    <a:pt x="0" y="0"/>
                  </a:moveTo>
                  <a:lnTo>
                    <a:pt x="10380223" y="0"/>
                  </a:lnTo>
                  <a:lnTo>
                    <a:pt x="10380223"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142875"/>
              <a:ext cx="10380218"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Placeholder for confusion matrix, ROC curve, or classification metrics chart</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78503" y="3449755"/>
            <a:ext cx="3556892" cy="4056859"/>
            <a:chOff x="0" y="0"/>
            <a:chExt cx="4742523" cy="5409146"/>
          </a:xfrm>
        </p:grpSpPr>
        <p:sp>
          <p:nvSpPr>
            <p:cNvPr id="7" name="Freeform 7"/>
            <p:cNvSpPr/>
            <p:nvPr/>
          </p:nvSpPr>
          <p:spPr>
            <a:xfrm>
              <a:off x="0" y="0"/>
              <a:ext cx="4742561" cy="5409184"/>
            </a:xfrm>
            <a:custGeom>
              <a:avLst/>
              <a:gdLst/>
              <a:ahLst/>
              <a:cxnLst/>
              <a:rect l="l" t="t" r="r" b="b"/>
              <a:pathLst>
                <a:path w="4742561" h="5409184">
                  <a:moveTo>
                    <a:pt x="9525" y="0"/>
                  </a:moveTo>
                  <a:lnTo>
                    <a:pt x="4733036" y="0"/>
                  </a:lnTo>
                  <a:cubicBezTo>
                    <a:pt x="4738243" y="0"/>
                    <a:pt x="4742561" y="4318"/>
                    <a:pt x="4742561" y="9525"/>
                  </a:cubicBezTo>
                  <a:lnTo>
                    <a:pt x="4742561" y="5399659"/>
                  </a:lnTo>
                  <a:cubicBezTo>
                    <a:pt x="4742561" y="5404866"/>
                    <a:pt x="4738243" y="5409184"/>
                    <a:pt x="4733036" y="5409184"/>
                  </a:cubicBezTo>
                  <a:lnTo>
                    <a:pt x="9525" y="5409184"/>
                  </a:lnTo>
                  <a:cubicBezTo>
                    <a:pt x="4318" y="5409184"/>
                    <a:pt x="0" y="5404866"/>
                    <a:pt x="0" y="5399659"/>
                  </a:cubicBezTo>
                  <a:lnTo>
                    <a:pt x="0" y="9525"/>
                  </a:lnTo>
                  <a:cubicBezTo>
                    <a:pt x="0" y="4318"/>
                    <a:pt x="4318" y="0"/>
                    <a:pt x="9525" y="0"/>
                  </a:cubicBezTo>
                  <a:moveTo>
                    <a:pt x="9525" y="19050"/>
                  </a:moveTo>
                  <a:lnTo>
                    <a:pt x="9525" y="9525"/>
                  </a:lnTo>
                  <a:lnTo>
                    <a:pt x="19050" y="9525"/>
                  </a:lnTo>
                  <a:lnTo>
                    <a:pt x="19050" y="5399659"/>
                  </a:lnTo>
                  <a:lnTo>
                    <a:pt x="9525" y="5399659"/>
                  </a:lnTo>
                  <a:lnTo>
                    <a:pt x="9525" y="5390134"/>
                  </a:lnTo>
                  <a:lnTo>
                    <a:pt x="4733036" y="5390134"/>
                  </a:lnTo>
                  <a:lnTo>
                    <a:pt x="4733036" y="5399659"/>
                  </a:lnTo>
                  <a:lnTo>
                    <a:pt x="4723511" y="5399659"/>
                  </a:lnTo>
                  <a:lnTo>
                    <a:pt x="4723511" y="9525"/>
                  </a:lnTo>
                  <a:lnTo>
                    <a:pt x="4733036" y="9525"/>
                  </a:lnTo>
                  <a:lnTo>
                    <a:pt x="4733036" y="19050"/>
                  </a:lnTo>
                  <a:lnTo>
                    <a:pt x="9525" y="19050"/>
                  </a:lnTo>
                  <a:close/>
                </a:path>
              </a:pathLst>
            </a:custGeom>
            <a:solidFill>
              <a:srgbClr val="D2A1A1"/>
            </a:solidFill>
            <a:ln w="12700">
              <a:solidFill>
                <a:srgbClr val="000000"/>
              </a:solidFill>
            </a:ln>
          </p:spPr>
          <p:txBody>
            <a:bodyPr/>
            <a:lstStyle/>
            <a:p>
              <a:endParaRPr lang="en-US"/>
            </a:p>
          </p:txBody>
        </p:sp>
      </p:grpSp>
      <p:grpSp>
        <p:nvGrpSpPr>
          <p:cNvPr id="8" name="Group 8"/>
          <p:cNvGrpSpPr/>
          <p:nvPr/>
        </p:nvGrpSpPr>
        <p:grpSpPr>
          <a:xfrm>
            <a:off x="5235350" y="3449755"/>
            <a:ext cx="3556892" cy="3542605"/>
            <a:chOff x="0" y="0"/>
            <a:chExt cx="4742523" cy="4723473"/>
          </a:xfrm>
        </p:grpSpPr>
        <p:sp>
          <p:nvSpPr>
            <p:cNvPr id="9" name="Freeform 9"/>
            <p:cNvSpPr/>
            <p:nvPr/>
          </p:nvSpPr>
          <p:spPr>
            <a:xfrm>
              <a:off x="0" y="0"/>
              <a:ext cx="4742561" cy="4723511"/>
            </a:xfrm>
            <a:custGeom>
              <a:avLst/>
              <a:gdLst/>
              <a:ahLst/>
              <a:cxnLst/>
              <a:rect l="l" t="t" r="r" b="b"/>
              <a:pathLst>
                <a:path w="4742561" h="4723511">
                  <a:moveTo>
                    <a:pt x="9525" y="0"/>
                  </a:moveTo>
                  <a:lnTo>
                    <a:pt x="4733036" y="0"/>
                  </a:lnTo>
                  <a:cubicBezTo>
                    <a:pt x="4738243" y="0"/>
                    <a:pt x="4742561" y="4318"/>
                    <a:pt x="4742561" y="9525"/>
                  </a:cubicBezTo>
                  <a:lnTo>
                    <a:pt x="4742561" y="4713986"/>
                  </a:lnTo>
                  <a:cubicBezTo>
                    <a:pt x="4742561" y="4719193"/>
                    <a:pt x="4738243" y="4723511"/>
                    <a:pt x="4733036" y="4723511"/>
                  </a:cubicBezTo>
                  <a:lnTo>
                    <a:pt x="9525" y="4723511"/>
                  </a:lnTo>
                  <a:cubicBezTo>
                    <a:pt x="4318" y="4723511"/>
                    <a:pt x="0" y="4719193"/>
                    <a:pt x="0" y="4713986"/>
                  </a:cubicBezTo>
                  <a:lnTo>
                    <a:pt x="0" y="9525"/>
                  </a:lnTo>
                  <a:cubicBezTo>
                    <a:pt x="0" y="4318"/>
                    <a:pt x="4318" y="0"/>
                    <a:pt x="9525" y="0"/>
                  </a:cubicBezTo>
                  <a:moveTo>
                    <a:pt x="9525" y="19050"/>
                  </a:moveTo>
                  <a:lnTo>
                    <a:pt x="9525" y="9525"/>
                  </a:lnTo>
                  <a:lnTo>
                    <a:pt x="19050" y="9525"/>
                  </a:lnTo>
                  <a:lnTo>
                    <a:pt x="19050" y="4713986"/>
                  </a:lnTo>
                  <a:lnTo>
                    <a:pt x="9525" y="4713986"/>
                  </a:lnTo>
                  <a:lnTo>
                    <a:pt x="9525" y="4704461"/>
                  </a:lnTo>
                  <a:lnTo>
                    <a:pt x="4733036" y="4704461"/>
                  </a:lnTo>
                  <a:lnTo>
                    <a:pt x="4733036" y="4713986"/>
                  </a:lnTo>
                  <a:lnTo>
                    <a:pt x="4723511" y="4713986"/>
                  </a:lnTo>
                  <a:lnTo>
                    <a:pt x="4723511" y="9525"/>
                  </a:lnTo>
                  <a:lnTo>
                    <a:pt x="4733036" y="9525"/>
                  </a:lnTo>
                  <a:lnTo>
                    <a:pt x="4733036" y="19050"/>
                  </a:lnTo>
                  <a:lnTo>
                    <a:pt x="9525" y="19050"/>
                  </a:lnTo>
                  <a:close/>
                </a:path>
              </a:pathLst>
            </a:custGeom>
            <a:solidFill>
              <a:srgbClr val="D2A1A1"/>
            </a:solidFill>
            <a:ln w="12700">
              <a:solidFill>
                <a:srgbClr val="000000"/>
              </a:solidFill>
            </a:ln>
          </p:spPr>
          <p:txBody>
            <a:bodyPr/>
            <a:lstStyle/>
            <a:p>
              <a:endParaRPr lang="en-US"/>
            </a:p>
          </p:txBody>
        </p:sp>
      </p:grpSp>
      <p:grpSp>
        <p:nvGrpSpPr>
          <p:cNvPr id="10" name="Group 10"/>
          <p:cNvGrpSpPr/>
          <p:nvPr/>
        </p:nvGrpSpPr>
        <p:grpSpPr>
          <a:xfrm>
            <a:off x="9477908" y="3449755"/>
            <a:ext cx="3556892" cy="3971153"/>
            <a:chOff x="0" y="0"/>
            <a:chExt cx="4742523" cy="5294871"/>
          </a:xfrm>
        </p:grpSpPr>
        <p:sp>
          <p:nvSpPr>
            <p:cNvPr id="11" name="Freeform 11"/>
            <p:cNvSpPr/>
            <p:nvPr/>
          </p:nvSpPr>
          <p:spPr>
            <a:xfrm>
              <a:off x="0" y="0"/>
              <a:ext cx="4742561" cy="5294884"/>
            </a:xfrm>
            <a:custGeom>
              <a:avLst/>
              <a:gdLst/>
              <a:ahLst/>
              <a:cxnLst/>
              <a:rect l="l" t="t" r="r" b="b"/>
              <a:pathLst>
                <a:path w="4742561" h="5294884">
                  <a:moveTo>
                    <a:pt x="9525" y="0"/>
                  </a:moveTo>
                  <a:lnTo>
                    <a:pt x="4733036" y="0"/>
                  </a:lnTo>
                  <a:cubicBezTo>
                    <a:pt x="4738243" y="0"/>
                    <a:pt x="4742561" y="4318"/>
                    <a:pt x="4742561" y="9525"/>
                  </a:cubicBezTo>
                  <a:lnTo>
                    <a:pt x="4742561" y="5285359"/>
                  </a:lnTo>
                  <a:cubicBezTo>
                    <a:pt x="4742561" y="5290566"/>
                    <a:pt x="4738243" y="5294884"/>
                    <a:pt x="4733036" y="5294884"/>
                  </a:cubicBezTo>
                  <a:lnTo>
                    <a:pt x="9525" y="5294884"/>
                  </a:lnTo>
                  <a:cubicBezTo>
                    <a:pt x="4318" y="5294884"/>
                    <a:pt x="0" y="5290566"/>
                    <a:pt x="0" y="5285359"/>
                  </a:cubicBezTo>
                  <a:lnTo>
                    <a:pt x="0" y="9525"/>
                  </a:lnTo>
                  <a:cubicBezTo>
                    <a:pt x="0" y="4318"/>
                    <a:pt x="4318" y="0"/>
                    <a:pt x="9525" y="0"/>
                  </a:cubicBezTo>
                  <a:moveTo>
                    <a:pt x="9525" y="19050"/>
                  </a:moveTo>
                  <a:lnTo>
                    <a:pt x="9525" y="9525"/>
                  </a:lnTo>
                  <a:lnTo>
                    <a:pt x="19050" y="9525"/>
                  </a:lnTo>
                  <a:lnTo>
                    <a:pt x="19050" y="5285359"/>
                  </a:lnTo>
                  <a:lnTo>
                    <a:pt x="9525" y="5285359"/>
                  </a:lnTo>
                  <a:lnTo>
                    <a:pt x="9525" y="5275834"/>
                  </a:lnTo>
                  <a:lnTo>
                    <a:pt x="4733036" y="5275834"/>
                  </a:lnTo>
                  <a:lnTo>
                    <a:pt x="4733036" y="5285359"/>
                  </a:lnTo>
                  <a:lnTo>
                    <a:pt x="4723511" y="5285359"/>
                  </a:lnTo>
                  <a:lnTo>
                    <a:pt x="4723511" y="9525"/>
                  </a:lnTo>
                  <a:lnTo>
                    <a:pt x="4733036" y="9525"/>
                  </a:lnTo>
                  <a:lnTo>
                    <a:pt x="4733036" y="19050"/>
                  </a:lnTo>
                  <a:lnTo>
                    <a:pt x="9525" y="19050"/>
                  </a:lnTo>
                  <a:close/>
                </a:path>
              </a:pathLst>
            </a:custGeom>
            <a:solidFill>
              <a:srgbClr val="D2A1A1"/>
            </a:solidFill>
            <a:ln w="12700">
              <a:solidFill>
                <a:srgbClr val="000000"/>
              </a:solidFill>
            </a:ln>
          </p:spPr>
          <p:txBody>
            <a:bodyPr/>
            <a:lstStyle/>
            <a:p>
              <a:endParaRPr lang="en-US"/>
            </a:p>
          </p:txBody>
        </p:sp>
      </p:grpSp>
      <p:grpSp>
        <p:nvGrpSpPr>
          <p:cNvPr id="12" name="Group 12"/>
          <p:cNvGrpSpPr/>
          <p:nvPr/>
        </p:nvGrpSpPr>
        <p:grpSpPr>
          <a:xfrm>
            <a:off x="13734745" y="3449755"/>
            <a:ext cx="3556892" cy="3542605"/>
            <a:chOff x="0" y="0"/>
            <a:chExt cx="4742523" cy="4723473"/>
          </a:xfrm>
        </p:grpSpPr>
        <p:sp>
          <p:nvSpPr>
            <p:cNvPr id="13" name="Freeform 13"/>
            <p:cNvSpPr/>
            <p:nvPr/>
          </p:nvSpPr>
          <p:spPr>
            <a:xfrm>
              <a:off x="0" y="0"/>
              <a:ext cx="4742561" cy="4723511"/>
            </a:xfrm>
            <a:custGeom>
              <a:avLst/>
              <a:gdLst/>
              <a:ahLst/>
              <a:cxnLst/>
              <a:rect l="l" t="t" r="r" b="b"/>
              <a:pathLst>
                <a:path w="4742561" h="4723511">
                  <a:moveTo>
                    <a:pt x="9525" y="0"/>
                  </a:moveTo>
                  <a:lnTo>
                    <a:pt x="4733036" y="0"/>
                  </a:lnTo>
                  <a:cubicBezTo>
                    <a:pt x="4738243" y="0"/>
                    <a:pt x="4742561" y="4318"/>
                    <a:pt x="4742561" y="9525"/>
                  </a:cubicBezTo>
                  <a:lnTo>
                    <a:pt x="4742561" y="4713986"/>
                  </a:lnTo>
                  <a:cubicBezTo>
                    <a:pt x="4742561" y="4719193"/>
                    <a:pt x="4738243" y="4723511"/>
                    <a:pt x="4733036" y="4723511"/>
                  </a:cubicBezTo>
                  <a:lnTo>
                    <a:pt x="9525" y="4723511"/>
                  </a:lnTo>
                  <a:cubicBezTo>
                    <a:pt x="4318" y="4723511"/>
                    <a:pt x="0" y="4719193"/>
                    <a:pt x="0" y="4713986"/>
                  </a:cubicBezTo>
                  <a:lnTo>
                    <a:pt x="0" y="9525"/>
                  </a:lnTo>
                  <a:cubicBezTo>
                    <a:pt x="0" y="4318"/>
                    <a:pt x="4318" y="0"/>
                    <a:pt x="9525" y="0"/>
                  </a:cubicBezTo>
                  <a:moveTo>
                    <a:pt x="9525" y="19050"/>
                  </a:moveTo>
                  <a:lnTo>
                    <a:pt x="9525" y="9525"/>
                  </a:lnTo>
                  <a:lnTo>
                    <a:pt x="19050" y="9525"/>
                  </a:lnTo>
                  <a:lnTo>
                    <a:pt x="19050" y="4713986"/>
                  </a:lnTo>
                  <a:lnTo>
                    <a:pt x="9525" y="4713986"/>
                  </a:lnTo>
                  <a:lnTo>
                    <a:pt x="9525" y="4704461"/>
                  </a:lnTo>
                  <a:lnTo>
                    <a:pt x="4733036" y="4704461"/>
                  </a:lnTo>
                  <a:lnTo>
                    <a:pt x="4733036" y="4713986"/>
                  </a:lnTo>
                  <a:lnTo>
                    <a:pt x="4723511" y="4713986"/>
                  </a:lnTo>
                  <a:lnTo>
                    <a:pt x="4723511" y="9525"/>
                  </a:lnTo>
                  <a:lnTo>
                    <a:pt x="4733036" y="9525"/>
                  </a:lnTo>
                  <a:lnTo>
                    <a:pt x="4733036" y="19050"/>
                  </a:lnTo>
                  <a:lnTo>
                    <a:pt x="9525" y="19050"/>
                  </a:lnTo>
                  <a:close/>
                </a:path>
              </a:pathLst>
            </a:custGeom>
            <a:solidFill>
              <a:srgbClr val="D2A1A1"/>
            </a:solidFill>
            <a:ln w="12700">
              <a:solidFill>
                <a:srgbClr val="000000"/>
              </a:solidFill>
            </a:ln>
          </p:spPr>
          <p:txBody>
            <a:bodyPr/>
            <a:lstStyle/>
            <a:p>
              <a:endParaRPr lang="en-US"/>
            </a:p>
          </p:txBody>
        </p:sp>
      </p:grpSp>
      <p:grpSp>
        <p:nvGrpSpPr>
          <p:cNvPr id="14" name="Group 14"/>
          <p:cNvGrpSpPr/>
          <p:nvPr/>
        </p:nvGrpSpPr>
        <p:grpSpPr>
          <a:xfrm>
            <a:off x="985647" y="2099853"/>
            <a:ext cx="16298856" cy="671379"/>
            <a:chOff x="0" y="0"/>
            <a:chExt cx="21731808" cy="895172"/>
          </a:xfrm>
        </p:grpSpPr>
        <p:sp>
          <p:nvSpPr>
            <p:cNvPr id="15" name="Freeform 15"/>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16" name="TextBox 16"/>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Study Constraints &amp; Gaps</a:t>
              </a:r>
            </a:p>
          </p:txBody>
        </p:sp>
      </p:grpSp>
      <p:grpSp>
        <p:nvGrpSpPr>
          <p:cNvPr id="17" name="Group 17"/>
          <p:cNvGrpSpPr/>
          <p:nvPr/>
        </p:nvGrpSpPr>
        <p:grpSpPr>
          <a:xfrm>
            <a:off x="1299905" y="3756879"/>
            <a:ext cx="2914078" cy="1528467"/>
            <a:chOff x="0" y="0"/>
            <a:chExt cx="3885438" cy="2037956"/>
          </a:xfrm>
        </p:grpSpPr>
        <p:sp>
          <p:nvSpPr>
            <p:cNvPr id="18" name="Freeform 18"/>
            <p:cNvSpPr/>
            <p:nvPr/>
          </p:nvSpPr>
          <p:spPr>
            <a:xfrm>
              <a:off x="0" y="0"/>
              <a:ext cx="3885441" cy="2037952"/>
            </a:xfrm>
            <a:custGeom>
              <a:avLst/>
              <a:gdLst/>
              <a:ahLst/>
              <a:cxnLst/>
              <a:rect l="l" t="t" r="r" b="b"/>
              <a:pathLst>
                <a:path w="3885441" h="2037952">
                  <a:moveTo>
                    <a:pt x="0" y="0"/>
                  </a:moveTo>
                  <a:lnTo>
                    <a:pt x="3885441" y="0"/>
                  </a:lnTo>
                  <a:lnTo>
                    <a:pt x="3885441" y="2037952"/>
                  </a:lnTo>
                  <a:lnTo>
                    <a:pt x="0" y="2037952"/>
                  </a:lnTo>
                  <a:close/>
                </a:path>
              </a:pathLst>
            </a:custGeom>
            <a:solidFill>
              <a:srgbClr val="000000">
                <a:alpha val="0"/>
              </a:srgbClr>
            </a:solidFill>
            <a:ln w="12700">
              <a:solidFill>
                <a:srgbClr val="000000"/>
              </a:solidFill>
            </a:ln>
          </p:spPr>
          <p:txBody>
            <a:bodyPr/>
            <a:lstStyle/>
            <a:p>
              <a:endParaRPr lang="en-US"/>
            </a:p>
          </p:txBody>
        </p:sp>
        <p:sp>
          <p:nvSpPr>
            <p:cNvPr id="19" name="TextBox 19"/>
            <p:cNvSpPr txBox="1"/>
            <p:nvPr/>
          </p:nvSpPr>
          <p:spPr>
            <a:xfrm>
              <a:off x="0" y="-85725"/>
              <a:ext cx="3885438" cy="2123681"/>
            </a:xfrm>
            <a:prstGeom prst="rect">
              <a:avLst/>
            </a:prstGeom>
          </p:spPr>
          <p:txBody>
            <a:bodyPr lIns="0" tIns="0" rIns="0" bIns="0" rtlCol="0" anchor="ctr"/>
            <a:lstStyle/>
            <a:p>
              <a:pPr algn="l">
                <a:lnSpc>
                  <a:spcPts val="4697"/>
                </a:lnSpc>
              </a:pPr>
              <a:r>
                <a:rPr lang="en-US" sz="3261" b="1">
                  <a:solidFill>
                    <a:srgbClr val="5D8AA8"/>
                  </a:solidFill>
                  <a:latin typeface="Ubuntu Bold"/>
                  <a:ea typeface="Ubuntu Bold"/>
                  <a:cs typeface="Ubuntu Bold"/>
                  <a:sym typeface="Ubuntu Bold"/>
                </a:rPr>
                <a:t>Non-Partisan Voters Excluded</a:t>
              </a:r>
            </a:p>
          </p:txBody>
        </p:sp>
      </p:grpSp>
      <p:grpSp>
        <p:nvGrpSpPr>
          <p:cNvPr id="20" name="Group 20"/>
          <p:cNvGrpSpPr/>
          <p:nvPr/>
        </p:nvGrpSpPr>
        <p:grpSpPr>
          <a:xfrm>
            <a:off x="5542464" y="3756879"/>
            <a:ext cx="2914078" cy="1014212"/>
            <a:chOff x="0" y="0"/>
            <a:chExt cx="3885438" cy="1352283"/>
          </a:xfrm>
        </p:grpSpPr>
        <p:sp>
          <p:nvSpPr>
            <p:cNvPr id="21" name="Freeform 21"/>
            <p:cNvSpPr/>
            <p:nvPr/>
          </p:nvSpPr>
          <p:spPr>
            <a:xfrm>
              <a:off x="0" y="0"/>
              <a:ext cx="3885441" cy="1352286"/>
            </a:xfrm>
            <a:custGeom>
              <a:avLst/>
              <a:gdLst/>
              <a:ahLst/>
              <a:cxnLst/>
              <a:rect l="l" t="t" r="r" b="b"/>
              <a:pathLst>
                <a:path w="3885441" h="1352286">
                  <a:moveTo>
                    <a:pt x="0" y="0"/>
                  </a:moveTo>
                  <a:lnTo>
                    <a:pt x="3885441" y="0"/>
                  </a:lnTo>
                  <a:lnTo>
                    <a:pt x="3885441" y="1352286"/>
                  </a:lnTo>
                  <a:lnTo>
                    <a:pt x="0" y="1352286"/>
                  </a:lnTo>
                  <a:close/>
                </a:path>
              </a:pathLst>
            </a:custGeom>
            <a:solidFill>
              <a:srgbClr val="000000">
                <a:alpha val="0"/>
              </a:srgbClr>
            </a:solidFill>
            <a:ln w="12700">
              <a:solidFill>
                <a:srgbClr val="000000"/>
              </a:solidFill>
            </a:ln>
          </p:spPr>
          <p:txBody>
            <a:bodyPr/>
            <a:lstStyle/>
            <a:p>
              <a:endParaRPr lang="en-US"/>
            </a:p>
          </p:txBody>
        </p:sp>
        <p:sp>
          <p:nvSpPr>
            <p:cNvPr id="22" name="TextBox 22"/>
            <p:cNvSpPr txBox="1"/>
            <p:nvPr/>
          </p:nvSpPr>
          <p:spPr>
            <a:xfrm>
              <a:off x="0" y="-85725"/>
              <a:ext cx="3885438" cy="1438008"/>
            </a:xfrm>
            <a:prstGeom prst="rect">
              <a:avLst/>
            </a:prstGeom>
          </p:spPr>
          <p:txBody>
            <a:bodyPr lIns="0" tIns="0" rIns="0" bIns="0" rtlCol="0" anchor="ctr"/>
            <a:lstStyle/>
            <a:p>
              <a:pPr algn="l">
                <a:lnSpc>
                  <a:spcPts val="4697"/>
                </a:lnSpc>
              </a:pPr>
              <a:r>
                <a:rPr lang="en-US" sz="3261" b="1">
                  <a:solidFill>
                    <a:srgbClr val="5D8AA8"/>
                  </a:solidFill>
                  <a:latin typeface="Ubuntu Bold"/>
                  <a:ea typeface="Ubuntu Bold"/>
                  <a:cs typeface="Ubuntu Bold"/>
                  <a:sym typeface="Ubuntu Bold"/>
                </a:rPr>
                <a:t>Limited Time Snapshot</a:t>
              </a:r>
            </a:p>
          </p:txBody>
        </p:sp>
      </p:grpSp>
      <p:grpSp>
        <p:nvGrpSpPr>
          <p:cNvPr id="23" name="Group 23"/>
          <p:cNvGrpSpPr/>
          <p:nvPr/>
        </p:nvGrpSpPr>
        <p:grpSpPr>
          <a:xfrm>
            <a:off x="9799310" y="3756879"/>
            <a:ext cx="2914078" cy="1014212"/>
            <a:chOff x="0" y="0"/>
            <a:chExt cx="3885438" cy="1352283"/>
          </a:xfrm>
        </p:grpSpPr>
        <p:sp>
          <p:nvSpPr>
            <p:cNvPr id="24" name="Freeform 24"/>
            <p:cNvSpPr/>
            <p:nvPr/>
          </p:nvSpPr>
          <p:spPr>
            <a:xfrm>
              <a:off x="0" y="0"/>
              <a:ext cx="3885441" cy="1352286"/>
            </a:xfrm>
            <a:custGeom>
              <a:avLst/>
              <a:gdLst/>
              <a:ahLst/>
              <a:cxnLst/>
              <a:rect l="l" t="t" r="r" b="b"/>
              <a:pathLst>
                <a:path w="3885441" h="1352286">
                  <a:moveTo>
                    <a:pt x="0" y="0"/>
                  </a:moveTo>
                  <a:lnTo>
                    <a:pt x="3885441" y="0"/>
                  </a:lnTo>
                  <a:lnTo>
                    <a:pt x="3885441" y="1352286"/>
                  </a:lnTo>
                  <a:lnTo>
                    <a:pt x="0" y="1352286"/>
                  </a:lnTo>
                  <a:close/>
                </a:path>
              </a:pathLst>
            </a:custGeom>
            <a:solidFill>
              <a:srgbClr val="000000">
                <a:alpha val="0"/>
              </a:srgbClr>
            </a:solidFill>
            <a:ln w="12700">
              <a:solidFill>
                <a:srgbClr val="000000"/>
              </a:solidFill>
            </a:ln>
          </p:spPr>
          <p:txBody>
            <a:bodyPr/>
            <a:lstStyle/>
            <a:p>
              <a:endParaRPr lang="en-US"/>
            </a:p>
          </p:txBody>
        </p:sp>
        <p:sp>
          <p:nvSpPr>
            <p:cNvPr id="25" name="TextBox 25"/>
            <p:cNvSpPr txBox="1"/>
            <p:nvPr/>
          </p:nvSpPr>
          <p:spPr>
            <a:xfrm>
              <a:off x="0" y="-85725"/>
              <a:ext cx="3885438" cy="1438008"/>
            </a:xfrm>
            <a:prstGeom prst="rect">
              <a:avLst/>
            </a:prstGeom>
          </p:spPr>
          <p:txBody>
            <a:bodyPr lIns="0" tIns="0" rIns="0" bIns="0" rtlCol="0" anchor="ctr"/>
            <a:lstStyle/>
            <a:p>
              <a:pPr algn="l">
                <a:lnSpc>
                  <a:spcPts val="4697"/>
                </a:lnSpc>
              </a:pPr>
              <a:r>
                <a:rPr lang="en-US" sz="3261" b="1">
                  <a:solidFill>
                    <a:srgbClr val="5D8AA8"/>
                  </a:solidFill>
                  <a:latin typeface="Ubuntu Bold"/>
                  <a:ea typeface="Ubuntu Bold"/>
                  <a:cs typeface="Ubuntu Bold"/>
                  <a:sym typeface="Ubuntu Bold"/>
                </a:rPr>
                <a:t>Missing Key Variables</a:t>
              </a:r>
            </a:p>
          </p:txBody>
        </p:sp>
      </p:grpSp>
      <p:grpSp>
        <p:nvGrpSpPr>
          <p:cNvPr id="26" name="Group 26"/>
          <p:cNvGrpSpPr/>
          <p:nvPr/>
        </p:nvGrpSpPr>
        <p:grpSpPr>
          <a:xfrm>
            <a:off x="14056157" y="3756879"/>
            <a:ext cx="2914078" cy="1014212"/>
            <a:chOff x="0" y="0"/>
            <a:chExt cx="3885438" cy="1352283"/>
          </a:xfrm>
        </p:grpSpPr>
        <p:sp>
          <p:nvSpPr>
            <p:cNvPr id="27" name="Freeform 27"/>
            <p:cNvSpPr/>
            <p:nvPr/>
          </p:nvSpPr>
          <p:spPr>
            <a:xfrm>
              <a:off x="0" y="0"/>
              <a:ext cx="3885441" cy="1352286"/>
            </a:xfrm>
            <a:custGeom>
              <a:avLst/>
              <a:gdLst/>
              <a:ahLst/>
              <a:cxnLst/>
              <a:rect l="l" t="t" r="r" b="b"/>
              <a:pathLst>
                <a:path w="3885441" h="1352286">
                  <a:moveTo>
                    <a:pt x="0" y="0"/>
                  </a:moveTo>
                  <a:lnTo>
                    <a:pt x="3885441" y="0"/>
                  </a:lnTo>
                  <a:lnTo>
                    <a:pt x="3885441" y="1352286"/>
                  </a:lnTo>
                  <a:lnTo>
                    <a:pt x="0" y="1352286"/>
                  </a:lnTo>
                  <a:close/>
                </a:path>
              </a:pathLst>
            </a:custGeom>
            <a:solidFill>
              <a:srgbClr val="000000">
                <a:alpha val="0"/>
              </a:srgbClr>
            </a:solidFill>
            <a:ln w="12700">
              <a:solidFill>
                <a:srgbClr val="000000"/>
              </a:solidFill>
            </a:ln>
          </p:spPr>
          <p:txBody>
            <a:bodyPr/>
            <a:lstStyle/>
            <a:p>
              <a:endParaRPr lang="en-US"/>
            </a:p>
          </p:txBody>
        </p:sp>
        <p:sp>
          <p:nvSpPr>
            <p:cNvPr id="28" name="TextBox 28"/>
            <p:cNvSpPr txBox="1"/>
            <p:nvPr/>
          </p:nvSpPr>
          <p:spPr>
            <a:xfrm>
              <a:off x="0" y="-85725"/>
              <a:ext cx="3885438" cy="1438008"/>
            </a:xfrm>
            <a:prstGeom prst="rect">
              <a:avLst/>
            </a:prstGeom>
          </p:spPr>
          <p:txBody>
            <a:bodyPr lIns="0" tIns="0" rIns="0" bIns="0" rtlCol="0" anchor="ctr"/>
            <a:lstStyle/>
            <a:p>
              <a:pPr algn="l">
                <a:lnSpc>
                  <a:spcPts val="4697"/>
                </a:lnSpc>
              </a:pPr>
              <a:r>
                <a:rPr lang="en-US" sz="3261" b="1">
                  <a:solidFill>
                    <a:srgbClr val="5D8AA8"/>
                  </a:solidFill>
                  <a:latin typeface="Ubuntu Bold"/>
                  <a:ea typeface="Ubuntu Bold"/>
                  <a:cs typeface="Ubuntu Bold"/>
                  <a:sym typeface="Ubuntu Bold"/>
                </a:rPr>
                <a:t>State-Level Only</a:t>
              </a:r>
            </a:p>
          </p:txBody>
        </p:sp>
      </p:grpSp>
      <p:grpSp>
        <p:nvGrpSpPr>
          <p:cNvPr id="29" name="Group 29"/>
          <p:cNvGrpSpPr/>
          <p:nvPr/>
        </p:nvGrpSpPr>
        <p:grpSpPr>
          <a:xfrm>
            <a:off x="1299905" y="5485333"/>
            <a:ext cx="2914078" cy="1699879"/>
            <a:chOff x="0" y="0"/>
            <a:chExt cx="3885438" cy="2266506"/>
          </a:xfrm>
        </p:grpSpPr>
        <p:sp>
          <p:nvSpPr>
            <p:cNvPr id="30" name="Freeform 30"/>
            <p:cNvSpPr/>
            <p:nvPr/>
          </p:nvSpPr>
          <p:spPr>
            <a:xfrm>
              <a:off x="0" y="0"/>
              <a:ext cx="3885441" cy="2266507"/>
            </a:xfrm>
            <a:custGeom>
              <a:avLst/>
              <a:gdLst/>
              <a:ahLst/>
              <a:cxnLst/>
              <a:rect l="l" t="t" r="r" b="b"/>
              <a:pathLst>
                <a:path w="3885441" h="2266507">
                  <a:moveTo>
                    <a:pt x="0" y="0"/>
                  </a:moveTo>
                  <a:lnTo>
                    <a:pt x="3885441" y="0"/>
                  </a:lnTo>
                  <a:lnTo>
                    <a:pt x="3885441"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31" name="TextBox 31"/>
            <p:cNvSpPr txBox="1"/>
            <p:nvPr/>
          </p:nvSpPr>
          <p:spPr>
            <a:xfrm>
              <a:off x="0" y="-142875"/>
              <a:ext cx="3885438"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26,108 voters omitted due to focus on binary Dem/Rep affiliation</a:t>
              </a:r>
            </a:p>
          </p:txBody>
        </p:sp>
      </p:grpSp>
      <p:grpSp>
        <p:nvGrpSpPr>
          <p:cNvPr id="32" name="Group 32"/>
          <p:cNvGrpSpPr/>
          <p:nvPr/>
        </p:nvGrpSpPr>
        <p:grpSpPr>
          <a:xfrm>
            <a:off x="5542464" y="4985366"/>
            <a:ext cx="2914078" cy="1699879"/>
            <a:chOff x="0" y="0"/>
            <a:chExt cx="3885438" cy="2266506"/>
          </a:xfrm>
        </p:grpSpPr>
        <p:sp>
          <p:nvSpPr>
            <p:cNvPr id="33" name="Freeform 33"/>
            <p:cNvSpPr/>
            <p:nvPr/>
          </p:nvSpPr>
          <p:spPr>
            <a:xfrm>
              <a:off x="0" y="0"/>
              <a:ext cx="3885441" cy="2266507"/>
            </a:xfrm>
            <a:custGeom>
              <a:avLst/>
              <a:gdLst/>
              <a:ahLst/>
              <a:cxnLst/>
              <a:rect l="l" t="t" r="r" b="b"/>
              <a:pathLst>
                <a:path w="3885441" h="2266507">
                  <a:moveTo>
                    <a:pt x="0" y="0"/>
                  </a:moveTo>
                  <a:lnTo>
                    <a:pt x="3885441" y="0"/>
                  </a:lnTo>
                  <a:lnTo>
                    <a:pt x="3885441"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34" name="TextBox 34"/>
            <p:cNvSpPr txBox="1"/>
            <p:nvPr/>
          </p:nvSpPr>
          <p:spPr>
            <a:xfrm>
              <a:off x="0" y="-142875"/>
              <a:ext cx="3885438"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2021 data only; party affiliation rarely updates in official records</a:t>
              </a:r>
            </a:p>
          </p:txBody>
        </p:sp>
      </p:grpSp>
      <p:grpSp>
        <p:nvGrpSpPr>
          <p:cNvPr id="35" name="Group 35"/>
          <p:cNvGrpSpPr/>
          <p:nvPr/>
        </p:nvGrpSpPr>
        <p:grpSpPr>
          <a:xfrm>
            <a:off x="9799310" y="4985366"/>
            <a:ext cx="2914078" cy="2114140"/>
            <a:chOff x="0" y="0"/>
            <a:chExt cx="3885438" cy="2818854"/>
          </a:xfrm>
        </p:grpSpPr>
        <p:sp>
          <p:nvSpPr>
            <p:cNvPr id="36" name="Freeform 36"/>
            <p:cNvSpPr/>
            <p:nvPr/>
          </p:nvSpPr>
          <p:spPr>
            <a:xfrm>
              <a:off x="0" y="0"/>
              <a:ext cx="3885441" cy="2818849"/>
            </a:xfrm>
            <a:custGeom>
              <a:avLst/>
              <a:gdLst/>
              <a:ahLst/>
              <a:cxnLst/>
              <a:rect l="l" t="t" r="r" b="b"/>
              <a:pathLst>
                <a:path w="3885441" h="2818849">
                  <a:moveTo>
                    <a:pt x="0" y="0"/>
                  </a:moveTo>
                  <a:lnTo>
                    <a:pt x="3885441" y="0"/>
                  </a:lnTo>
                  <a:lnTo>
                    <a:pt x="3885441" y="2818849"/>
                  </a:lnTo>
                  <a:lnTo>
                    <a:pt x="0" y="2818849"/>
                  </a:lnTo>
                  <a:close/>
                </a:path>
              </a:pathLst>
            </a:custGeom>
            <a:solidFill>
              <a:srgbClr val="000000">
                <a:alpha val="0"/>
              </a:srgbClr>
            </a:solidFill>
            <a:ln w="12700">
              <a:solidFill>
                <a:srgbClr val="000000"/>
              </a:solidFill>
            </a:ln>
          </p:spPr>
          <p:txBody>
            <a:bodyPr/>
            <a:lstStyle/>
            <a:p>
              <a:endParaRPr lang="en-US"/>
            </a:p>
          </p:txBody>
        </p:sp>
        <p:sp>
          <p:nvSpPr>
            <p:cNvPr id="37" name="TextBox 37"/>
            <p:cNvSpPr txBox="1"/>
            <p:nvPr/>
          </p:nvSpPr>
          <p:spPr>
            <a:xfrm>
              <a:off x="0" y="-142875"/>
              <a:ext cx="3885438" cy="296172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No education, religion, race/ethnicity data due to quality concerns</a:t>
              </a:r>
            </a:p>
          </p:txBody>
        </p:sp>
      </p:grpSp>
      <p:grpSp>
        <p:nvGrpSpPr>
          <p:cNvPr id="38" name="Group 38"/>
          <p:cNvGrpSpPr/>
          <p:nvPr/>
        </p:nvGrpSpPr>
        <p:grpSpPr>
          <a:xfrm>
            <a:off x="14056157" y="4985366"/>
            <a:ext cx="2914078" cy="1699879"/>
            <a:chOff x="0" y="0"/>
            <a:chExt cx="3885438" cy="2266506"/>
          </a:xfrm>
        </p:grpSpPr>
        <p:sp>
          <p:nvSpPr>
            <p:cNvPr id="39" name="Freeform 39"/>
            <p:cNvSpPr/>
            <p:nvPr/>
          </p:nvSpPr>
          <p:spPr>
            <a:xfrm>
              <a:off x="0" y="0"/>
              <a:ext cx="3885441" cy="2266507"/>
            </a:xfrm>
            <a:custGeom>
              <a:avLst/>
              <a:gdLst/>
              <a:ahLst/>
              <a:cxnLst/>
              <a:rect l="l" t="t" r="r" b="b"/>
              <a:pathLst>
                <a:path w="3885441" h="2266507">
                  <a:moveTo>
                    <a:pt x="0" y="0"/>
                  </a:moveTo>
                  <a:lnTo>
                    <a:pt x="3885441" y="0"/>
                  </a:lnTo>
                  <a:lnTo>
                    <a:pt x="3885441"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40" name="TextBox 40"/>
            <p:cNvSpPr txBox="1"/>
            <p:nvPr/>
          </p:nvSpPr>
          <p:spPr>
            <a:xfrm>
              <a:off x="0" y="-142875"/>
              <a:ext cx="3885438"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Findings limited to New York; regional patterns may differ elsewhere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4142565"/>
            <a:ext cx="5242493" cy="2971219"/>
            <a:chOff x="0" y="0"/>
            <a:chExt cx="6989991" cy="3961625"/>
          </a:xfrm>
        </p:grpSpPr>
        <p:sp>
          <p:nvSpPr>
            <p:cNvPr id="7" name="Freeform 7"/>
            <p:cNvSpPr/>
            <p:nvPr/>
          </p:nvSpPr>
          <p:spPr>
            <a:xfrm>
              <a:off x="0" y="0"/>
              <a:ext cx="6989953" cy="3961638"/>
            </a:xfrm>
            <a:custGeom>
              <a:avLst/>
              <a:gdLst/>
              <a:ahLst/>
              <a:cxnLst/>
              <a:rect l="l" t="t" r="r" b="b"/>
              <a:pathLst>
                <a:path w="6989953" h="3961638">
                  <a:moveTo>
                    <a:pt x="0" y="0"/>
                  </a:moveTo>
                  <a:lnTo>
                    <a:pt x="6989953" y="0"/>
                  </a:lnTo>
                  <a:lnTo>
                    <a:pt x="6989953" y="3961638"/>
                  </a:lnTo>
                  <a:lnTo>
                    <a:pt x="0" y="3961638"/>
                  </a:lnTo>
                  <a:close/>
                </a:path>
              </a:pathLst>
            </a:custGeom>
            <a:solidFill>
              <a:srgbClr val="D6ADAD">
                <a:alpha val="22745"/>
              </a:srgbClr>
            </a:solidFill>
            <a:ln w="12700">
              <a:solidFill>
                <a:srgbClr val="000000"/>
              </a:solidFill>
            </a:ln>
          </p:spPr>
          <p:txBody>
            <a:bodyPr/>
            <a:lstStyle/>
            <a:p>
              <a:endParaRPr lang="en-US"/>
            </a:p>
          </p:txBody>
        </p:sp>
      </p:grpSp>
      <p:grpSp>
        <p:nvGrpSpPr>
          <p:cNvPr id="8" name="Group 8"/>
          <p:cNvGrpSpPr/>
          <p:nvPr/>
        </p:nvGrpSpPr>
        <p:grpSpPr>
          <a:xfrm>
            <a:off x="6513824" y="4142565"/>
            <a:ext cx="5242493" cy="2971219"/>
            <a:chOff x="0" y="0"/>
            <a:chExt cx="6989991" cy="3961625"/>
          </a:xfrm>
        </p:grpSpPr>
        <p:sp>
          <p:nvSpPr>
            <p:cNvPr id="9" name="Freeform 9"/>
            <p:cNvSpPr/>
            <p:nvPr/>
          </p:nvSpPr>
          <p:spPr>
            <a:xfrm>
              <a:off x="0" y="0"/>
              <a:ext cx="6989953" cy="3961638"/>
            </a:xfrm>
            <a:custGeom>
              <a:avLst/>
              <a:gdLst/>
              <a:ahLst/>
              <a:cxnLst/>
              <a:rect l="l" t="t" r="r" b="b"/>
              <a:pathLst>
                <a:path w="6989953" h="3961638">
                  <a:moveTo>
                    <a:pt x="0" y="0"/>
                  </a:moveTo>
                  <a:lnTo>
                    <a:pt x="6989953" y="0"/>
                  </a:lnTo>
                  <a:lnTo>
                    <a:pt x="6989953" y="3961638"/>
                  </a:lnTo>
                  <a:lnTo>
                    <a:pt x="0" y="3961638"/>
                  </a:lnTo>
                  <a:close/>
                </a:path>
              </a:pathLst>
            </a:custGeom>
            <a:solidFill>
              <a:srgbClr val="D6ADAD">
                <a:alpha val="22745"/>
              </a:srgbClr>
            </a:solidFill>
            <a:ln w="12700">
              <a:solidFill>
                <a:srgbClr val="000000"/>
              </a:solidFill>
            </a:ln>
          </p:spPr>
          <p:txBody>
            <a:bodyPr/>
            <a:lstStyle/>
            <a:p>
              <a:endParaRPr lang="en-US"/>
            </a:p>
          </p:txBody>
        </p:sp>
      </p:grpSp>
      <p:grpSp>
        <p:nvGrpSpPr>
          <p:cNvPr id="10" name="Group 10"/>
          <p:cNvGrpSpPr/>
          <p:nvPr/>
        </p:nvGrpSpPr>
        <p:grpSpPr>
          <a:xfrm>
            <a:off x="12042010" y="4142565"/>
            <a:ext cx="5242493" cy="2971219"/>
            <a:chOff x="0" y="0"/>
            <a:chExt cx="6989991" cy="3961625"/>
          </a:xfrm>
        </p:grpSpPr>
        <p:sp>
          <p:nvSpPr>
            <p:cNvPr id="11" name="Freeform 11"/>
            <p:cNvSpPr/>
            <p:nvPr/>
          </p:nvSpPr>
          <p:spPr>
            <a:xfrm>
              <a:off x="0" y="0"/>
              <a:ext cx="6989953" cy="3961638"/>
            </a:xfrm>
            <a:custGeom>
              <a:avLst/>
              <a:gdLst/>
              <a:ahLst/>
              <a:cxnLst/>
              <a:rect l="l" t="t" r="r" b="b"/>
              <a:pathLst>
                <a:path w="6989953" h="3961638">
                  <a:moveTo>
                    <a:pt x="0" y="0"/>
                  </a:moveTo>
                  <a:lnTo>
                    <a:pt x="6989953" y="0"/>
                  </a:lnTo>
                  <a:lnTo>
                    <a:pt x="6989953" y="3961638"/>
                  </a:lnTo>
                  <a:lnTo>
                    <a:pt x="0" y="3961638"/>
                  </a:lnTo>
                  <a:close/>
                </a:path>
              </a:pathLst>
            </a:custGeom>
            <a:solidFill>
              <a:srgbClr val="D6ADAD">
                <a:alpha val="22745"/>
              </a:srgbClr>
            </a:solidFill>
            <a:ln w="12700">
              <a:solidFill>
                <a:srgbClr val="000000"/>
              </a:solidFill>
            </a:ln>
          </p:spPr>
          <p:txBody>
            <a:bodyPr/>
            <a:lstStyle/>
            <a:p>
              <a:endParaRPr lang="en-US"/>
            </a:p>
          </p:txBody>
        </p:sp>
      </p:grpSp>
      <p:grpSp>
        <p:nvGrpSpPr>
          <p:cNvPr id="12" name="Group 12"/>
          <p:cNvGrpSpPr/>
          <p:nvPr/>
        </p:nvGrpSpPr>
        <p:grpSpPr>
          <a:xfrm>
            <a:off x="985647" y="3142640"/>
            <a:ext cx="16298856" cy="671379"/>
            <a:chOff x="0" y="0"/>
            <a:chExt cx="21731808" cy="895172"/>
          </a:xfrm>
        </p:grpSpPr>
        <p:sp>
          <p:nvSpPr>
            <p:cNvPr id="13" name="Freeform 13"/>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14" name="TextBox 14"/>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Why This Matters: Rethinking Voter Prediction</a:t>
              </a:r>
            </a:p>
          </p:txBody>
        </p:sp>
      </p:grpSp>
      <p:grpSp>
        <p:nvGrpSpPr>
          <p:cNvPr id="15" name="Group 15"/>
          <p:cNvGrpSpPr/>
          <p:nvPr/>
        </p:nvGrpSpPr>
        <p:grpSpPr>
          <a:xfrm>
            <a:off x="1271340" y="4428258"/>
            <a:ext cx="4671098" cy="499967"/>
            <a:chOff x="0" y="0"/>
            <a:chExt cx="6228131" cy="666623"/>
          </a:xfrm>
        </p:grpSpPr>
        <p:sp>
          <p:nvSpPr>
            <p:cNvPr id="16" name="Freeform 16"/>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17" name="TextBox 17"/>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Generalization is risky</a:t>
              </a:r>
            </a:p>
          </p:txBody>
        </p:sp>
      </p:grpSp>
      <p:grpSp>
        <p:nvGrpSpPr>
          <p:cNvPr id="18" name="Group 18"/>
          <p:cNvGrpSpPr/>
          <p:nvPr/>
        </p:nvGrpSpPr>
        <p:grpSpPr>
          <a:xfrm>
            <a:off x="6799526" y="4428258"/>
            <a:ext cx="4671098" cy="499967"/>
            <a:chOff x="0" y="0"/>
            <a:chExt cx="6228131" cy="666623"/>
          </a:xfrm>
        </p:grpSpPr>
        <p:sp>
          <p:nvSpPr>
            <p:cNvPr id="19" name="Freeform 19"/>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Hidden factors</a:t>
              </a:r>
            </a:p>
          </p:txBody>
        </p:sp>
      </p:grpSp>
      <p:grpSp>
        <p:nvGrpSpPr>
          <p:cNvPr id="21" name="Group 21"/>
          <p:cNvGrpSpPr/>
          <p:nvPr/>
        </p:nvGrpSpPr>
        <p:grpSpPr>
          <a:xfrm>
            <a:off x="12327703" y="4428258"/>
            <a:ext cx="4671098" cy="499967"/>
            <a:chOff x="0" y="0"/>
            <a:chExt cx="6228131" cy="666623"/>
          </a:xfrm>
        </p:grpSpPr>
        <p:sp>
          <p:nvSpPr>
            <p:cNvPr id="22" name="Freeform 22"/>
            <p:cNvSpPr/>
            <p:nvPr/>
          </p:nvSpPr>
          <p:spPr>
            <a:xfrm>
              <a:off x="0" y="0"/>
              <a:ext cx="6228133" cy="666620"/>
            </a:xfrm>
            <a:custGeom>
              <a:avLst/>
              <a:gdLst/>
              <a:ahLst/>
              <a:cxnLst/>
              <a:rect l="l" t="t" r="r" b="b"/>
              <a:pathLst>
                <a:path w="6228133" h="666620">
                  <a:moveTo>
                    <a:pt x="0" y="0"/>
                  </a:moveTo>
                  <a:lnTo>
                    <a:pt x="6228133" y="0"/>
                  </a:lnTo>
                  <a:lnTo>
                    <a:pt x="622813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3" name="TextBox 23"/>
            <p:cNvSpPr txBox="1"/>
            <p:nvPr/>
          </p:nvSpPr>
          <p:spPr>
            <a:xfrm>
              <a:off x="0" y="-85725"/>
              <a:ext cx="6228131" cy="752348"/>
            </a:xfrm>
            <a:prstGeom prst="rect">
              <a:avLst/>
            </a:prstGeom>
          </p:spPr>
          <p:txBody>
            <a:bodyPr lIns="0" tIns="0" rIns="0" bIns="0" rtlCol="0" anchor="ctr"/>
            <a:lstStyle/>
            <a:p>
              <a:pPr algn="l">
                <a:lnSpc>
                  <a:spcPts val="4697"/>
                </a:lnSpc>
              </a:pPr>
              <a:r>
                <a:rPr lang="en-US" sz="3261" b="1">
                  <a:solidFill>
                    <a:srgbClr val="860000"/>
                  </a:solidFill>
                  <a:latin typeface="Ubuntu Bold"/>
                  <a:ea typeface="Ubuntu Bold"/>
                  <a:cs typeface="Ubuntu Bold"/>
                  <a:sym typeface="Ubuntu Bold"/>
                </a:rPr>
                <a:t>Complexity matters</a:t>
              </a:r>
            </a:p>
          </p:txBody>
        </p:sp>
      </p:grpSp>
      <p:grpSp>
        <p:nvGrpSpPr>
          <p:cNvPr id="24" name="Group 24"/>
          <p:cNvGrpSpPr/>
          <p:nvPr/>
        </p:nvGrpSpPr>
        <p:grpSpPr>
          <a:xfrm>
            <a:off x="1271340" y="5142500"/>
            <a:ext cx="4671098" cy="842801"/>
            <a:chOff x="0" y="0"/>
            <a:chExt cx="6228131" cy="1123734"/>
          </a:xfrm>
        </p:grpSpPr>
        <p:sp>
          <p:nvSpPr>
            <p:cNvPr id="25" name="Freeform 25"/>
            <p:cNvSpPr/>
            <p:nvPr/>
          </p:nvSpPr>
          <p:spPr>
            <a:xfrm>
              <a:off x="0" y="0"/>
              <a:ext cx="6228133" cy="1123731"/>
            </a:xfrm>
            <a:custGeom>
              <a:avLst/>
              <a:gdLst/>
              <a:ahLst/>
              <a:cxnLst/>
              <a:rect l="l" t="t" r="r" b="b"/>
              <a:pathLst>
                <a:path w="6228133" h="1123731">
                  <a:moveTo>
                    <a:pt x="0" y="0"/>
                  </a:moveTo>
                  <a:lnTo>
                    <a:pt x="6228133" y="0"/>
                  </a:lnTo>
                  <a:lnTo>
                    <a:pt x="6228133"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26" name="TextBox 26"/>
            <p:cNvSpPr txBox="1"/>
            <p:nvPr/>
          </p:nvSpPr>
          <p:spPr>
            <a:xfrm>
              <a:off x="0" y="-142875"/>
              <a:ext cx="6228131"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State-level or national averages obscure individual variation</a:t>
              </a:r>
            </a:p>
          </p:txBody>
        </p:sp>
      </p:grpSp>
      <p:grpSp>
        <p:nvGrpSpPr>
          <p:cNvPr id="27" name="Group 27"/>
          <p:cNvGrpSpPr/>
          <p:nvPr/>
        </p:nvGrpSpPr>
        <p:grpSpPr>
          <a:xfrm>
            <a:off x="6799526" y="5142500"/>
            <a:ext cx="4671098" cy="1699879"/>
            <a:chOff x="0" y="0"/>
            <a:chExt cx="6228131" cy="2266506"/>
          </a:xfrm>
        </p:grpSpPr>
        <p:sp>
          <p:nvSpPr>
            <p:cNvPr id="28" name="Freeform 28"/>
            <p:cNvSpPr/>
            <p:nvPr/>
          </p:nvSpPr>
          <p:spPr>
            <a:xfrm>
              <a:off x="0" y="0"/>
              <a:ext cx="6228133" cy="2266507"/>
            </a:xfrm>
            <a:custGeom>
              <a:avLst/>
              <a:gdLst/>
              <a:ahLst/>
              <a:cxnLst/>
              <a:rect l="l" t="t" r="r" b="b"/>
              <a:pathLst>
                <a:path w="6228133" h="2266507">
                  <a:moveTo>
                    <a:pt x="0" y="0"/>
                  </a:moveTo>
                  <a:lnTo>
                    <a:pt x="6228133" y="0"/>
                  </a:lnTo>
                  <a:lnTo>
                    <a:pt x="6228133"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29" name="TextBox 29"/>
            <p:cNvSpPr txBox="1"/>
            <p:nvPr/>
          </p:nvSpPr>
          <p:spPr>
            <a:xfrm>
              <a:off x="0" y="-142875"/>
              <a:ext cx="6228131"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Education, religion, family history, cultural identity likely matter more than simple demographics</a:t>
              </a:r>
            </a:p>
          </p:txBody>
        </p:sp>
      </p:grpSp>
      <p:grpSp>
        <p:nvGrpSpPr>
          <p:cNvPr id="30" name="Group 30"/>
          <p:cNvGrpSpPr/>
          <p:nvPr/>
        </p:nvGrpSpPr>
        <p:grpSpPr>
          <a:xfrm>
            <a:off x="12327703" y="5142500"/>
            <a:ext cx="4671098" cy="1699879"/>
            <a:chOff x="0" y="0"/>
            <a:chExt cx="6228131" cy="2266506"/>
          </a:xfrm>
        </p:grpSpPr>
        <p:sp>
          <p:nvSpPr>
            <p:cNvPr id="31" name="Freeform 31"/>
            <p:cNvSpPr/>
            <p:nvPr/>
          </p:nvSpPr>
          <p:spPr>
            <a:xfrm>
              <a:off x="0" y="0"/>
              <a:ext cx="6228133" cy="2266507"/>
            </a:xfrm>
            <a:custGeom>
              <a:avLst/>
              <a:gdLst/>
              <a:ahLst/>
              <a:cxnLst/>
              <a:rect l="l" t="t" r="r" b="b"/>
              <a:pathLst>
                <a:path w="6228133" h="2266507">
                  <a:moveTo>
                    <a:pt x="0" y="0"/>
                  </a:moveTo>
                  <a:lnTo>
                    <a:pt x="6228133" y="0"/>
                  </a:lnTo>
                  <a:lnTo>
                    <a:pt x="6228133" y="2266507"/>
                  </a:lnTo>
                  <a:lnTo>
                    <a:pt x="0" y="2266507"/>
                  </a:lnTo>
                  <a:close/>
                </a:path>
              </a:pathLst>
            </a:custGeom>
            <a:solidFill>
              <a:srgbClr val="000000">
                <a:alpha val="0"/>
              </a:srgbClr>
            </a:solidFill>
            <a:ln w="12700">
              <a:solidFill>
                <a:srgbClr val="000000"/>
              </a:solidFill>
            </a:ln>
          </p:spPr>
          <p:txBody>
            <a:bodyPr/>
            <a:lstStyle/>
            <a:p>
              <a:endParaRPr lang="en-US"/>
            </a:p>
          </p:txBody>
        </p:sp>
        <p:sp>
          <p:nvSpPr>
            <p:cNvPr id="32" name="TextBox 32"/>
            <p:cNvSpPr txBox="1"/>
            <p:nvPr/>
          </p:nvSpPr>
          <p:spPr>
            <a:xfrm>
              <a:off x="0" y="-142875"/>
              <a:ext cx="6228131" cy="2409381"/>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Treating all Democrats or Republicans as a homogeneous demographic bloc is fundamentally flawed</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144" y="-7144"/>
            <a:ext cx="18298716" cy="10299278"/>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sp>
        <p:nvSpPr>
          <p:cNvPr id="5" name="Freeform 5"/>
          <p:cNvSpPr/>
          <p:nvPr/>
        </p:nvSpPr>
        <p:spPr>
          <a:xfrm>
            <a:off x="0" y="0"/>
            <a:ext cx="18284428" cy="10284990"/>
          </a:xfrm>
          <a:custGeom>
            <a:avLst/>
            <a:gdLst/>
            <a:ahLst/>
            <a:cxnLst/>
            <a:rect l="l" t="t" r="r" b="b"/>
            <a:pathLst>
              <a:path w="18284428" h="10284990">
                <a:moveTo>
                  <a:pt x="0" y="0"/>
                </a:moveTo>
                <a:lnTo>
                  <a:pt x="18284428" y="0"/>
                </a:lnTo>
                <a:lnTo>
                  <a:pt x="18284428" y="10284990"/>
                </a:lnTo>
                <a:lnTo>
                  <a:pt x="0" y="10284990"/>
                </a:lnTo>
                <a:lnTo>
                  <a:pt x="0" y="0"/>
                </a:lnTo>
                <a:close/>
              </a:path>
            </a:pathLst>
          </a:custGeom>
          <a:blipFill>
            <a:blip r:embed="rId2"/>
            <a:stretch>
              <a:fillRect l="-1020" r="-1020" b="-2040"/>
            </a:stretch>
          </a:blipFill>
        </p:spPr>
        <p:txBody>
          <a:bodyPr/>
          <a:lstStyle/>
          <a:p>
            <a:endParaRPr lang="en-US"/>
          </a:p>
        </p:txBody>
      </p:sp>
      <p:grpSp>
        <p:nvGrpSpPr>
          <p:cNvPr id="6" name="Group 6"/>
          <p:cNvGrpSpPr/>
          <p:nvPr/>
        </p:nvGrpSpPr>
        <p:grpSpPr>
          <a:xfrm>
            <a:off x="985647" y="4328265"/>
            <a:ext cx="3742592" cy="1414186"/>
            <a:chOff x="0" y="0"/>
            <a:chExt cx="4990122" cy="1885582"/>
          </a:xfrm>
        </p:grpSpPr>
        <p:sp>
          <p:nvSpPr>
            <p:cNvPr id="7" name="Freeform 7"/>
            <p:cNvSpPr/>
            <p:nvPr/>
          </p:nvSpPr>
          <p:spPr>
            <a:xfrm>
              <a:off x="0" y="0"/>
              <a:ext cx="4990084" cy="1885569"/>
            </a:xfrm>
            <a:custGeom>
              <a:avLst/>
              <a:gdLst/>
              <a:ahLst/>
              <a:cxnLst/>
              <a:rect l="l" t="t" r="r" b="b"/>
              <a:pathLst>
                <a:path w="4990084" h="1885569">
                  <a:moveTo>
                    <a:pt x="0" y="0"/>
                  </a:moveTo>
                  <a:lnTo>
                    <a:pt x="4990084" y="0"/>
                  </a:lnTo>
                  <a:lnTo>
                    <a:pt x="4990084" y="1885569"/>
                  </a:lnTo>
                  <a:lnTo>
                    <a:pt x="0" y="1885569"/>
                  </a:lnTo>
                  <a:close/>
                </a:path>
              </a:pathLst>
            </a:custGeom>
            <a:solidFill>
              <a:srgbClr val="D6ADAD">
                <a:alpha val="22745"/>
              </a:srgbClr>
            </a:solidFill>
            <a:ln w="12700">
              <a:solidFill>
                <a:srgbClr val="000000"/>
              </a:solidFill>
            </a:ln>
          </p:spPr>
          <p:txBody>
            <a:bodyPr/>
            <a:lstStyle/>
            <a:p>
              <a:endParaRPr lang="en-US"/>
            </a:p>
          </p:txBody>
        </p:sp>
      </p:grpSp>
      <p:grpSp>
        <p:nvGrpSpPr>
          <p:cNvPr id="8" name="Group 8"/>
          <p:cNvGrpSpPr/>
          <p:nvPr/>
        </p:nvGrpSpPr>
        <p:grpSpPr>
          <a:xfrm>
            <a:off x="5028219" y="4328265"/>
            <a:ext cx="3742592" cy="1414186"/>
            <a:chOff x="0" y="0"/>
            <a:chExt cx="4990122" cy="1885582"/>
          </a:xfrm>
        </p:grpSpPr>
        <p:sp>
          <p:nvSpPr>
            <p:cNvPr id="9" name="Freeform 9"/>
            <p:cNvSpPr/>
            <p:nvPr/>
          </p:nvSpPr>
          <p:spPr>
            <a:xfrm>
              <a:off x="0" y="0"/>
              <a:ext cx="4990084" cy="1885569"/>
            </a:xfrm>
            <a:custGeom>
              <a:avLst/>
              <a:gdLst/>
              <a:ahLst/>
              <a:cxnLst/>
              <a:rect l="l" t="t" r="r" b="b"/>
              <a:pathLst>
                <a:path w="4990084" h="1885569">
                  <a:moveTo>
                    <a:pt x="0" y="0"/>
                  </a:moveTo>
                  <a:lnTo>
                    <a:pt x="4990084" y="0"/>
                  </a:lnTo>
                  <a:lnTo>
                    <a:pt x="4990084" y="1885569"/>
                  </a:lnTo>
                  <a:lnTo>
                    <a:pt x="0" y="1885569"/>
                  </a:lnTo>
                  <a:close/>
                </a:path>
              </a:pathLst>
            </a:custGeom>
            <a:solidFill>
              <a:srgbClr val="D6ADAD">
                <a:alpha val="22745"/>
              </a:srgbClr>
            </a:solidFill>
            <a:ln w="12700">
              <a:solidFill>
                <a:srgbClr val="000000"/>
              </a:solidFill>
            </a:ln>
          </p:spPr>
          <p:txBody>
            <a:bodyPr/>
            <a:lstStyle/>
            <a:p>
              <a:endParaRPr lang="en-US"/>
            </a:p>
          </p:txBody>
        </p:sp>
      </p:grpSp>
      <p:grpSp>
        <p:nvGrpSpPr>
          <p:cNvPr id="10" name="Group 10"/>
          <p:cNvGrpSpPr/>
          <p:nvPr/>
        </p:nvGrpSpPr>
        <p:grpSpPr>
          <a:xfrm>
            <a:off x="985647" y="6028144"/>
            <a:ext cx="7785164" cy="1414186"/>
            <a:chOff x="0" y="0"/>
            <a:chExt cx="10380218" cy="1885582"/>
          </a:xfrm>
        </p:grpSpPr>
        <p:sp>
          <p:nvSpPr>
            <p:cNvPr id="11" name="Freeform 11"/>
            <p:cNvSpPr/>
            <p:nvPr/>
          </p:nvSpPr>
          <p:spPr>
            <a:xfrm>
              <a:off x="0" y="0"/>
              <a:ext cx="10380218" cy="1885569"/>
            </a:xfrm>
            <a:custGeom>
              <a:avLst/>
              <a:gdLst/>
              <a:ahLst/>
              <a:cxnLst/>
              <a:rect l="l" t="t" r="r" b="b"/>
              <a:pathLst>
                <a:path w="10380218" h="1885569">
                  <a:moveTo>
                    <a:pt x="0" y="0"/>
                  </a:moveTo>
                  <a:lnTo>
                    <a:pt x="10380218" y="0"/>
                  </a:lnTo>
                  <a:lnTo>
                    <a:pt x="10380218" y="1885569"/>
                  </a:lnTo>
                  <a:lnTo>
                    <a:pt x="0" y="1885569"/>
                  </a:lnTo>
                  <a:close/>
                </a:path>
              </a:pathLst>
            </a:custGeom>
            <a:solidFill>
              <a:srgbClr val="D6ADAD">
                <a:alpha val="22745"/>
              </a:srgbClr>
            </a:solidFill>
            <a:ln w="12700">
              <a:solidFill>
                <a:srgbClr val="000000"/>
              </a:solidFill>
            </a:ln>
          </p:spPr>
          <p:txBody>
            <a:bodyPr/>
            <a:lstStyle/>
            <a:p>
              <a:endParaRPr lang="en-US"/>
            </a:p>
          </p:txBody>
        </p:sp>
      </p:grpSp>
      <p:grpSp>
        <p:nvGrpSpPr>
          <p:cNvPr id="12" name="Group 12"/>
          <p:cNvGrpSpPr/>
          <p:nvPr/>
        </p:nvGrpSpPr>
        <p:grpSpPr>
          <a:xfrm>
            <a:off x="9485052" y="4328265"/>
            <a:ext cx="3742592" cy="1828448"/>
            <a:chOff x="0" y="0"/>
            <a:chExt cx="4990122" cy="2437930"/>
          </a:xfrm>
        </p:grpSpPr>
        <p:sp>
          <p:nvSpPr>
            <p:cNvPr id="13" name="Freeform 13"/>
            <p:cNvSpPr/>
            <p:nvPr/>
          </p:nvSpPr>
          <p:spPr>
            <a:xfrm>
              <a:off x="0" y="0"/>
              <a:ext cx="4990084" cy="2437892"/>
            </a:xfrm>
            <a:custGeom>
              <a:avLst/>
              <a:gdLst/>
              <a:ahLst/>
              <a:cxnLst/>
              <a:rect l="l" t="t" r="r" b="b"/>
              <a:pathLst>
                <a:path w="4990084" h="2437892">
                  <a:moveTo>
                    <a:pt x="0" y="0"/>
                  </a:moveTo>
                  <a:lnTo>
                    <a:pt x="4990084" y="0"/>
                  </a:lnTo>
                  <a:lnTo>
                    <a:pt x="4990084" y="2437892"/>
                  </a:lnTo>
                  <a:lnTo>
                    <a:pt x="0" y="2437892"/>
                  </a:lnTo>
                  <a:close/>
                </a:path>
              </a:pathLst>
            </a:custGeom>
            <a:solidFill>
              <a:srgbClr val="D6ADAD">
                <a:alpha val="22745"/>
              </a:srgbClr>
            </a:solidFill>
            <a:ln w="12700">
              <a:solidFill>
                <a:srgbClr val="000000"/>
              </a:solidFill>
            </a:ln>
          </p:spPr>
          <p:txBody>
            <a:bodyPr/>
            <a:lstStyle/>
            <a:p>
              <a:endParaRPr lang="en-US"/>
            </a:p>
          </p:txBody>
        </p:sp>
      </p:grpSp>
      <p:grpSp>
        <p:nvGrpSpPr>
          <p:cNvPr id="14" name="Group 14"/>
          <p:cNvGrpSpPr/>
          <p:nvPr/>
        </p:nvGrpSpPr>
        <p:grpSpPr>
          <a:xfrm>
            <a:off x="13527624" y="4328265"/>
            <a:ext cx="3742592" cy="1828448"/>
            <a:chOff x="0" y="0"/>
            <a:chExt cx="4990122" cy="2437930"/>
          </a:xfrm>
        </p:grpSpPr>
        <p:sp>
          <p:nvSpPr>
            <p:cNvPr id="15" name="Freeform 15"/>
            <p:cNvSpPr/>
            <p:nvPr/>
          </p:nvSpPr>
          <p:spPr>
            <a:xfrm>
              <a:off x="0" y="0"/>
              <a:ext cx="4990084" cy="2437892"/>
            </a:xfrm>
            <a:custGeom>
              <a:avLst/>
              <a:gdLst/>
              <a:ahLst/>
              <a:cxnLst/>
              <a:rect l="l" t="t" r="r" b="b"/>
              <a:pathLst>
                <a:path w="4990084" h="2437892">
                  <a:moveTo>
                    <a:pt x="0" y="0"/>
                  </a:moveTo>
                  <a:lnTo>
                    <a:pt x="4990084" y="0"/>
                  </a:lnTo>
                  <a:lnTo>
                    <a:pt x="4990084" y="2437892"/>
                  </a:lnTo>
                  <a:lnTo>
                    <a:pt x="0" y="2437892"/>
                  </a:lnTo>
                  <a:close/>
                </a:path>
              </a:pathLst>
            </a:custGeom>
            <a:solidFill>
              <a:srgbClr val="D6ADAD">
                <a:alpha val="22745"/>
              </a:srgbClr>
            </a:solidFill>
            <a:ln w="12700">
              <a:solidFill>
                <a:srgbClr val="000000"/>
              </a:solidFill>
            </a:ln>
          </p:spPr>
          <p:txBody>
            <a:bodyPr/>
            <a:lstStyle/>
            <a:p>
              <a:endParaRPr lang="en-US"/>
            </a:p>
          </p:txBody>
        </p:sp>
      </p:grpSp>
      <p:grpSp>
        <p:nvGrpSpPr>
          <p:cNvPr id="16" name="Group 16"/>
          <p:cNvGrpSpPr/>
          <p:nvPr/>
        </p:nvGrpSpPr>
        <p:grpSpPr>
          <a:xfrm>
            <a:off x="9485052" y="6456693"/>
            <a:ext cx="7785164" cy="985647"/>
            <a:chOff x="0" y="0"/>
            <a:chExt cx="10380218" cy="1314196"/>
          </a:xfrm>
        </p:grpSpPr>
        <p:sp>
          <p:nvSpPr>
            <p:cNvPr id="17" name="Freeform 17"/>
            <p:cNvSpPr/>
            <p:nvPr/>
          </p:nvSpPr>
          <p:spPr>
            <a:xfrm>
              <a:off x="0" y="0"/>
              <a:ext cx="10380218" cy="1314196"/>
            </a:xfrm>
            <a:custGeom>
              <a:avLst/>
              <a:gdLst/>
              <a:ahLst/>
              <a:cxnLst/>
              <a:rect l="l" t="t" r="r" b="b"/>
              <a:pathLst>
                <a:path w="10380218" h="1314196">
                  <a:moveTo>
                    <a:pt x="0" y="0"/>
                  </a:moveTo>
                  <a:lnTo>
                    <a:pt x="10380218" y="0"/>
                  </a:lnTo>
                  <a:lnTo>
                    <a:pt x="10380218" y="1314196"/>
                  </a:lnTo>
                  <a:lnTo>
                    <a:pt x="0" y="1314196"/>
                  </a:lnTo>
                  <a:close/>
                </a:path>
              </a:pathLst>
            </a:custGeom>
            <a:solidFill>
              <a:srgbClr val="D6ADAD">
                <a:alpha val="22745"/>
              </a:srgbClr>
            </a:solidFill>
            <a:ln w="12700">
              <a:solidFill>
                <a:srgbClr val="000000"/>
              </a:solidFill>
            </a:ln>
          </p:spPr>
          <p:txBody>
            <a:bodyPr/>
            <a:lstStyle/>
            <a:p>
              <a:endParaRPr lang="en-US"/>
            </a:p>
          </p:txBody>
        </p:sp>
      </p:grpSp>
      <p:grpSp>
        <p:nvGrpSpPr>
          <p:cNvPr id="18" name="Group 18"/>
          <p:cNvGrpSpPr/>
          <p:nvPr/>
        </p:nvGrpSpPr>
        <p:grpSpPr>
          <a:xfrm>
            <a:off x="985647" y="2156993"/>
            <a:ext cx="16298856" cy="671379"/>
            <a:chOff x="0" y="0"/>
            <a:chExt cx="21731808" cy="895172"/>
          </a:xfrm>
        </p:grpSpPr>
        <p:sp>
          <p:nvSpPr>
            <p:cNvPr id="19" name="Freeform 19"/>
            <p:cNvSpPr/>
            <p:nvPr/>
          </p:nvSpPr>
          <p:spPr>
            <a:xfrm>
              <a:off x="0" y="0"/>
              <a:ext cx="21731805" cy="895175"/>
            </a:xfrm>
            <a:custGeom>
              <a:avLst/>
              <a:gdLst/>
              <a:ahLst/>
              <a:cxnLst/>
              <a:rect l="l" t="t" r="r" b="b"/>
              <a:pathLst>
                <a:path w="21731805" h="895175">
                  <a:moveTo>
                    <a:pt x="0" y="0"/>
                  </a:moveTo>
                  <a:lnTo>
                    <a:pt x="21731805" y="0"/>
                  </a:lnTo>
                  <a:lnTo>
                    <a:pt x="21731805" y="895175"/>
                  </a:lnTo>
                  <a:lnTo>
                    <a:pt x="0" y="895175"/>
                  </a:lnTo>
                  <a:close/>
                </a:path>
              </a:pathLst>
            </a:custGeom>
            <a:solidFill>
              <a:srgbClr val="000000">
                <a:alpha val="0"/>
              </a:srgbClr>
            </a:solidFill>
            <a:ln w="12700">
              <a:solidFill>
                <a:srgbClr val="000000"/>
              </a:solidFill>
            </a:ln>
          </p:spPr>
          <p:txBody>
            <a:bodyPr/>
            <a:lstStyle/>
            <a:p>
              <a:endParaRPr lang="en-US"/>
            </a:p>
          </p:txBody>
        </p:sp>
        <p:sp>
          <p:nvSpPr>
            <p:cNvPr id="20" name="TextBox 20"/>
            <p:cNvSpPr txBox="1"/>
            <p:nvPr/>
          </p:nvSpPr>
          <p:spPr>
            <a:xfrm>
              <a:off x="0" y="-123825"/>
              <a:ext cx="21731808" cy="1018997"/>
            </a:xfrm>
            <a:prstGeom prst="rect">
              <a:avLst/>
            </a:prstGeom>
          </p:spPr>
          <p:txBody>
            <a:bodyPr lIns="0" tIns="0" rIns="0" bIns="0" rtlCol="0" anchor="ctr"/>
            <a:lstStyle/>
            <a:p>
              <a:pPr algn="l">
                <a:lnSpc>
                  <a:spcPts val="6316"/>
                </a:lnSpc>
              </a:pPr>
              <a:r>
                <a:rPr lang="en-US" sz="4386" b="1">
                  <a:solidFill>
                    <a:srgbClr val="860000"/>
                  </a:solidFill>
                  <a:latin typeface="Ubuntu Bold"/>
                  <a:ea typeface="Ubuntu Bold"/>
                  <a:cs typeface="Ubuntu Bold"/>
                  <a:sym typeface="Ubuntu Bold"/>
                </a:rPr>
                <a:t>Limitations and Future Work</a:t>
              </a:r>
            </a:p>
          </p:txBody>
        </p:sp>
      </p:grpSp>
      <p:grpSp>
        <p:nvGrpSpPr>
          <p:cNvPr id="21" name="Group 21"/>
          <p:cNvGrpSpPr/>
          <p:nvPr/>
        </p:nvGrpSpPr>
        <p:grpSpPr>
          <a:xfrm>
            <a:off x="985647" y="3499752"/>
            <a:ext cx="7785164" cy="499967"/>
            <a:chOff x="0" y="0"/>
            <a:chExt cx="10380218" cy="666623"/>
          </a:xfrm>
        </p:grpSpPr>
        <p:sp>
          <p:nvSpPr>
            <p:cNvPr id="22" name="Freeform 22"/>
            <p:cNvSpPr/>
            <p:nvPr/>
          </p:nvSpPr>
          <p:spPr>
            <a:xfrm>
              <a:off x="0" y="0"/>
              <a:ext cx="10380223" cy="666620"/>
            </a:xfrm>
            <a:custGeom>
              <a:avLst/>
              <a:gdLst/>
              <a:ahLst/>
              <a:cxnLst/>
              <a:rect l="l" t="t" r="r" b="b"/>
              <a:pathLst>
                <a:path w="10380223" h="666620">
                  <a:moveTo>
                    <a:pt x="0" y="0"/>
                  </a:moveTo>
                  <a:lnTo>
                    <a:pt x="10380223" y="0"/>
                  </a:lnTo>
                  <a:lnTo>
                    <a:pt x="1038022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3" name="TextBox 23"/>
            <p:cNvSpPr txBox="1"/>
            <p:nvPr/>
          </p:nvSpPr>
          <p:spPr>
            <a:xfrm>
              <a:off x="0" y="-85725"/>
              <a:ext cx="10380218" cy="752348"/>
            </a:xfrm>
            <a:prstGeom prst="rect">
              <a:avLst/>
            </a:prstGeom>
          </p:spPr>
          <p:txBody>
            <a:bodyPr lIns="0" tIns="0" rIns="0" bIns="0" rtlCol="0" anchor="ctr"/>
            <a:lstStyle/>
            <a:p>
              <a:pPr algn="l">
                <a:lnSpc>
                  <a:spcPts val="4697"/>
                </a:lnSpc>
              </a:pPr>
              <a:r>
                <a:rPr lang="en-US" sz="3261" b="1">
                  <a:solidFill>
                    <a:srgbClr val="5D8AA8"/>
                  </a:solidFill>
                  <a:latin typeface="Ubuntu Bold"/>
                  <a:ea typeface="Ubuntu Bold"/>
                  <a:cs typeface="Ubuntu Bold"/>
                  <a:sym typeface="Ubuntu Bold"/>
                </a:rPr>
                <a:t>Limitations</a:t>
              </a:r>
            </a:p>
          </p:txBody>
        </p:sp>
      </p:grpSp>
      <p:grpSp>
        <p:nvGrpSpPr>
          <p:cNvPr id="24" name="Group 24"/>
          <p:cNvGrpSpPr/>
          <p:nvPr/>
        </p:nvGrpSpPr>
        <p:grpSpPr>
          <a:xfrm>
            <a:off x="9485052" y="3499752"/>
            <a:ext cx="7785164" cy="499967"/>
            <a:chOff x="0" y="0"/>
            <a:chExt cx="10380218" cy="666623"/>
          </a:xfrm>
        </p:grpSpPr>
        <p:sp>
          <p:nvSpPr>
            <p:cNvPr id="25" name="Freeform 25"/>
            <p:cNvSpPr/>
            <p:nvPr/>
          </p:nvSpPr>
          <p:spPr>
            <a:xfrm>
              <a:off x="0" y="0"/>
              <a:ext cx="10380223" cy="666620"/>
            </a:xfrm>
            <a:custGeom>
              <a:avLst/>
              <a:gdLst/>
              <a:ahLst/>
              <a:cxnLst/>
              <a:rect l="l" t="t" r="r" b="b"/>
              <a:pathLst>
                <a:path w="10380223" h="666620">
                  <a:moveTo>
                    <a:pt x="0" y="0"/>
                  </a:moveTo>
                  <a:lnTo>
                    <a:pt x="10380223" y="0"/>
                  </a:lnTo>
                  <a:lnTo>
                    <a:pt x="10380223" y="666620"/>
                  </a:lnTo>
                  <a:lnTo>
                    <a:pt x="0" y="666620"/>
                  </a:lnTo>
                  <a:close/>
                </a:path>
              </a:pathLst>
            </a:custGeom>
            <a:solidFill>
              <a:srgbClr val="000000">
                <a:alpha val="0"/>
              </a:srgbClr>
            </a:solidFill>
            <a:ln w="12700">
              <a:solidFill>
                <a:srgbClr val="000000"/>
              </a:solidFill>
            </a:ln>
          </p:spPr>
          <p:txBody>
            <a:bodyPr/>
            <a:lstStyle/>
            <a:p>
              <a:endParaRPr lang="en-US"/>
            </a:p>
          </p:txBody>
        </p:sp>
        <p:sp>
          <p:nvSpPr>
            <p:cNvPr id="26" name="TextBox 26"/>
            <p:cNvSpPr txBox="1"/>
            <p:nvPr/>
          </p:nvSpPr>
          <p:spPr>
            <a:xfrm>
              <a:off x="0" y="-85725"/>
              <a:ext cx="10380218" cy="752348"/>
            </a:xfrm>
            <a:prstGeom prst="rect">
              <a:avLst/>
            </a:prstGeom>
          </p:spPr>
          <p:txBody>
            <a:bodyPr lIns="0" tIns="0" rIns="0" bIns="0" rtlCol="0" anchor="ctr"/>
            <a:lstStyle/>
            <a:p>
              <a:pPr algn="l">
                <a:lnSpc>
                  <a:spcPts val="4697"/>
                </a:lnSpc>
              </a:pPr>
              <a:r>
                <a:rPr lang="en-US" sz="3261" b="1">
                  <a:solidFill>
                    <a:srgbClr val="5D8AA8"/>
                  </a:solidFill>
                  <a:latin typeface="Ubuntu Bold"/>
                  <a:ea typeface="Ubuntu Bold"/>
                  <a:cs typeface="Ubuntu Bold"/>
                  <a:sym typeface="Ubuntu Bold"/>
                </a:rPr>
                <a:t>Future Directions</a:t>
              </a:r>
            </a:p>
          </p:txBody>
        </p:sp>
      </p:grpSp>
      <p:grpSp>
        <p:nvGrpSpPr>
          <p:cNvPr id="27" name="Group 27"/>
          <p:cNvGrpSpPr/>
          <p:nvPr/>
        </p:nvGrpSpPr>
        <p:grpSpPr>
          <a:xfrm>
            <a:off x="1271340" y="4613958"/>
            <a:ext cx="3185493" cy="842801"/>
            <a:chOff x="0" y="0"/>
            <a:chExt cx="4247324" cy="1123734"/>
          </a:xfrm>
        </p:grpSpPr>
        <p:sp>
          <p:nvSpPr>
            <p:cNvPr id="28" name="Freeform 28"/>
            <p:cNvSpPr/>
            <p:nvPr/>
          </p:nvSpPr>
          <p:spPr>
            <a:xfrm>
              <a:off x="0" y="0"/>
              <a:ext cx="4247321" cy="1123731"/>
            </a:xfrm>
            <a:custGeom>
              <a:avLst/>
              <a:gdLst/>
              <a:ahLst/>
              <a:cxnLst/>
              <a:rect l="l" t="t" r="r" b="b"/>
              <a:pathLst>
                <a:path w="4247321" h="1123731">
                  <a:moveTo>
                    <a:pt x="0" y="0"/>
                  </a:moveTo>
                  <a:lnTo>
                    <a:pt x="4247321" y="0"/>
                  </a:lnTo>
                  <a:lnTo>
                    <a:pt x="4247321"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29" name="TextBox 29"/>
            <p:cNvSpPr txBox="1"/>
            <p:nvPr/>
          </p:nvSpPr>
          <p:spPr>
            <a:xfrm>
              <a:off x="0" y="-142875"/>
              <a:ext cx="4247324"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Excluded 26K non-partisan voters</a:t>
              </a:r>
            </a:p>
          </p:txBody>
        </p:sp>
      </p:grpSp>
      <p:grpSp>
        <p:nvGrpSpPr>
          <p:cNvPr id="30" name="Group 30"/>
          <p:cNvGrpSpPr/>
          <p:nvPr/>
        </p:nvGrpSpPr>
        <p:grpSpPr>
          <a:xfrm>
            <a:off x="5313912" y="4613958"/>
            <a:ext cx="3185493" cy="842801"/>
            <a:chOff x="0" y="0"/>
            <a:chExt cx="4247324" cy="1123734"/>
          </a:xfrm>
        </p:grpSpPr>
        <p:sp>
          <p:nvSpPr>
            <p:cNvPr id="31" name="Freeform 31"/>
            <p:cNvSpPr/>
            <p:nvPr/>
          </p:nvSpPr>
          <p:spPr>
            <a:xfrm>
              <a:off x="0" y="0"/>
              <a:ext cx="4247321" cy="1123731"/>
            </a:xfrm>
            <a:custGeom>
              <a:avLst/>
              <a:gdLst/>
              <a:ahLst/>
              <a:cxnLst/>
              <a:rect l="l" t="t" r="r" b="b"/>
              <a:pathLst>
                <a:path w="4247321" h="1123731">
                  <a:moveTo>
                    <a:pt x="0" y="0"/>
                  </a:moveTo>
                  <a:lnTo>
                    <a:pt x="4247321" y="0"/>
                  </a:lnTo>
                  <a:lnTo>
                    <a:pt x="4247321"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32" name="TextBox 32"/>
            <p:cNvSpPr txBox="1"/>
            <p:nvPr/>
          </p:nvSpPr>
          <p:spPr>
            <a:xfrm>
              <a:off x="0" y="-142875"/>
              <a:ext cx="4247324"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Limited to 2021 snapshot</a:t>
              </a:r>
            </a:p>
          </p:txBody>
        </p:sp>
      </p:grpSp>
      <p:grpSp>
        <p:nvGrpSpPr>
          <p:cNvPr id="33" name="Group 33"/>
          <p:cNvGrpSpPr/>
          <p:nvPr/>
        </p:nvGrpSpPr>
        <p:grpSpPr>
          <a:xfrm>
            <a:off x="1271340" y="6313846"/>
            <a:ext cx="7228065" cy="842801"/>
            <a:chOff x="0" y="0"/>
            <a:chExt cx="9637420" cy="1123734"/>
          </a:xfrm>
        </p:grpSpPr>
        <p:sp>
          <p:nvSpPr>
            <p:cNvPr id="34" name="Freeform 34"/>
            <p:cNvSpPr/>
            <p:nvPr/>
          </p:nvSpPr>
          <p:spPr>
            <a:xfrm>
              <a:off x="0" y="0"/>
              <a:ext cx="9637418" cy="1123731"/>
            </a:xfrm>
            <a:custGeom>
              <a:avLst/>
              <a:gdLst/>
              <a:ahLst/>
              <a:cxnLst/>
              <a:rect l="l" t="t" r="r" b="b"/>
              <a:pathLst>
                <a:path w="9637418" h="1123731">
                  <a:moveTo>
                    <a:pt x="0" y="0"/>
                  </a:moveTo>
                  <a:lnTo>
                    <a:pt x="9637418" y="0"/>
                  </a:lnTo>
                  <a:lnTo>
                    <a:pt x="9637418"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35" name="TextBox 35"/>
            <p:cNvSpPr txBox="1"/>
            <p:nvPr/>
          </p:nvSpPr>
          <p:spPr>
            <a:xfrm>
              <a:off x="0" y="-142875"/>
              <a:ext cx="9637420"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Missing key variables (education, religion, race/ethnicity)</a:t>
              </a:r>
            </a:p>
          </p:txBody>
        </p:sp>
      </p:grpSp>
      <p:grpSp>
        <p:nvGrpSpPr>
          <p:cNvPr id="36" name="Group 36"/>
          <p:cNvGrpSpPr/>
          <p:nvPr/>
        </p:nvGrpSpPr>
        <p:grpSpPr>
          <a:xfrm>
            <a:off x="9770745" y="4613958"/>
            <a:ext cx="3185493" cy="842801"/>
            <a:chOff x="0" y="0"/>
            <a:chExt cx="4247324" cy="1123734"/>
          </a:xfrm>
        </p:grpSpPr>
        <p:sp>
          <p:nvSpPr>
            <p:cNvPr id="37" name="Freeform 37"/>
            <p:cNvSpPr/>
            <p:nvPr/>
          </p:nvSpPr>
          <p:spPr>
            <a:xfrm>
              <a:off x="0" y="0"/>
              <a:ext cx="4247321" cy="1123731"/>
            </a:xfrm>
            <a:custGeom>
              <a:avLst/>
              <a:gdLst/>
              <a:ahLst/>
              <a:cxnLst/>
              <a:rect l="l" t="t" r="r" b="b"/>
              <a:pathLst>
                <a:path w="4247321" h="1123731">
                  <a:moveTo>
                    <a:pt x="0" y="0"/>
                  </a:moveTo>
                  <a:lnTo>
                    <a:pt x="4247321" y="0"/>
                  </a:lnTo>
                  <a:lnTo>
                    <a:pt x="4247321" y="1123731"/>
                  </a:lnTo>
                  <a:lnTo>
                    <a:pt x="0" y="1123731"/>
                  </a:lnTo>
                  <a:close/>
                </a:path>
              </a:pathLst>
            </a:custGeom>
            <a:solidFill>
              <a:srgbClr val="000000">
                <a:alpha val="0"/>
              </a:srgbClr>
            </a:solidFill>
            <a:ln w="12700">
              <a:solidFill>
                <a:srgbClr val="000000"/>
              </a:solidFill>
            </a:ln>
          </p:spPr>
          <p:txBody>
            <a:bodyPr/>
            <a:lstStyle/>
            <a:p>
              <a:endParaRPr lang="en-US"/>
            </a:p>
          </p:txBody>
        </p:sp>
        <p:sp>
          <p:nvSpPr>
            <p:cNvPr id="38" name="TextBox 38"/>
            <p:cNvSpPr txBox="1"/>
            <p:nvPr/>
          </p:nvSpPr>
          <p:spPr>
            <a:xfrm>
              <a:off x="0" y="-142875"/>
              <a:ext cx="4247324" cy="1266609"/>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Multi-state comparison</a:t>
              </a:r>
            </a:p>
          </p:txBody>
        </p:sp>
      </p:grpSp>
      <p:grpSp>
        <p:nvGrpSpPr>
          <p:cNvPr id="39" name="Group 39"/>
          <p:cNvGrpSpPr/>
          <p:nvPr/>
        </p:nvGrpSpPr>
        <p:grpSpPr>
          <a:xfrm>
            <a:off x="13813317" y="4613958"/>
            <a:ext cx="3185493" cy="1271340"/>
            <a:chOff x="0" y="0"/>
            <a:chExt cx="4247324" cy="1695120"/>
          </a:xfrm>
        </p:grpSpPr>
        <p:sp>
          <p:nvSpPr>
            <p:cNvPr id="40" name="Freeform 40"/>
            <p:cNvSpPr/>
            <p:nvPr/>
          </p:nvSpPr>
          <p:spPr>
            <a:xfrm>
              <a:off x="0" y="0"/>
              <a:ext cx="4247321" cy="1695119"/>
            </a:xfrm>
            <a:custGeom>
              <a:avLst/>
              <a:gdLst/>
              <a:ahLst/>
              <a:cxnLst/>
              <a:rect l="l" t="t" r="r" b="b"/>
              <a:pathLst>
                <a:path w="4247321" h="1695119">
                  <a:moveTo>
                    <a:pt x="0" y="0"/>
                  </a:moveTo>
                  <a:lnTo>
                    <a:pt x="4247321" y="0"/>
                  </a:lnTo>
                  <a:lnTo>
                    <a:pt x="4247321" y="1695119"/>
                  </a:lnTo>
                  <a:lnTo>
                    <a:pt x="0" y="1695119"/>
                  </a:lnTo>
                  <a:close/>
                </a:path>
              </a:pathLst>
            </a:custGeom>
            <a:solidFill>
              <a:srgbClr val="000000">
                <a:alpha val="0"/>
              </a:srgbClr>
            </a:solidFill>
            <a:ln w="12700">
              <a:solidFill>
                <a:srgbClr val="000000"/>
              </a:solidFill>
            </a:ln>
          </p:spPr>
          <p:txBody>
            <a:bodyPr/>
            <a:lstStyle/>
            <a:p>
              <a:endParaRPr lang="en-US"/>
            </a:p>
          </p:txBody>
        </p:sp>
        <p:sp>
          <p:nvSpPr>
            <p:cNvPr id="41" name="TextBox 41"/>
            <p:cNvSpPr txBox="1"/>
            <p:nvPr/>
          </p:nvSpPr>
          <p:spPr>
            <a:xfrm>
              <a:off x="0" y="-142875"/>
              <a:ext cx="4247324" cy="1837995"/>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Incorporate unmeasured variables via survey</a:t>
              </a:r>
            </a:p>
          </p:txBody>
        </p:sp>
      </p:grpSp>
      <p:grpSp>
        <p:nvGrpSpPr>
          <p:cNvPr id="42" name="Group 42"/>
          <p:cNvGrpSpPr/>
          <p:nvPr/>
        </p:nvGrpSpPr>
        <p:grpSpPr>
          <a:xfrm>
            <a:off x="9770745" y="6742386"/>
            <a:ext cx="5571039" cy="414261"/>
            <a:chOff x="0" y="0"/>
            <a:chExt cx="7428052" cy="552348"/>
          </a:xfrm>
        </p:grpSpPr>
        <p:sp>
          <p:nvSpPr>
            <p:cNvPr id="43" name="Freeform 43"/>
            <p:cNvSpPr/>
            <p:nvPr/>
          </p:nvSpPr>
          <p:spPr>
            <a:xfrm>
              <a:off x="0" y="0"/>
              <a:ext cx="7428049" cy="552342"/>
            </a:xfrm>
            <a:custGeom>
              <a:avLst/>
              <a:gdLst/>
              <a:ahLst/>
              <a:cxnLst/>
              <a:rect l="l" t="t" r="r" b="b"/>
              <a:pathLst>
                <a:path w="7428049" h="552342">
                  <a:moveTo>
                    <a:pt x="0" y="0"/>
                  </a:moveTo>
                  <a:lnTo>
                    <a:pt x="7428049" y="0"/>
                  </a:lnTo>
                  <a:lnTo>
                    <a:pt x="7428049" y="552342"/>
                  </a:lnTo>
                  <a:lnTo>
                    <a:pt x="0" y="552342"/>
                  </a:lnTo>
                  <a:close/>
                </a:path>
              </a:pathLst>
            </a:custGeom>
            <a:solidFill>
              <a:srgbClr val="000000">
                <a:alpha val="0"/>
              </a:srgbClr>
            </a:solidFill>
            <a:ln w="12700">
              <a:solidFill>
                <a:srgbClr val="000000"/>
              </a:solidFill>
            </a:ln>
          </p:spPr>
          <p:txBody>
            <a:bodyPr/>
            <a:lstStyle/>
            <a:p>
              <a:endParaRPr lang="en-US"/>
            </a:p>
          </p:txBody>
        </p:sp>
        <p:sp>
          <p:nvSpPr>
            <p:cNvPr id="44" name="TextBox 44"/>
            <p:cNvSpPr txBox="1"/>
            <p:nvPr/>
          </p:nvSpPr>
          <p:spPr>
            <a:xfrm>
              <a:off x="0" y="-142875"/>
              <a:ext cx="7428052" cy="695223"/>
            </a:xfrm>
            <a:prstGeom prst="rect">
              <a:avLst/>
            </a:prstGeom>
          </p:spPr>
          <p:txBody>
            <a:bodyPr lIns="0" tIns="0" rIns="0" bIns="0" rtlCol="0" anchor="ctr"/>
            <a:lstStyle/>
            <a:p>
              <a:pPr algn="l">
                <a:lnSpc>
                  <a:spcPts val="3846"/>
                </a:lnSpc>
              </a:pPr>
              <a:r>
                <a:rPr lang="en-US" sz="2137" b="1">
                  <a:solidFill>
                    <a:srgbClr val="000000"/>
                  </a:solidFill>
                  <a:latin typeface="Poppins Bold"/>
                  <a:ea typeface="Poppins Bold"/>
                  <a:cs typeface="Poppins Bold"/>
                  <a:sym typeface="Poppins Bold"/>
                </a:rPr>
                <a:t>Explore non-partisan voters separately</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064066" y="1573311"/>
            <a:ext cx="14159869" cy="7969763"/>
            <a:chOff x="0" y="0"/>
            <a:chExt cx="24398288" cy="13732370"/>
          </a:xfrm>
        </p:grpSpPr>
        <p:sp>
          <p:nvSpPr>
            <p:cNvPr id="3" name="Freeform 3"/>
            <p:cNvSpPr/>
            <p:nvPr/>
          </p:nvSpPr>
          <p:spPr>
            <a:xfrm>
              <a:off x="9525" y="9525"/>
              <a:ext cx="24379174" cy="13713333"/>
            </a:xfrm>
            <a:custGeom>
              <a:avLst/>
              <a:gdLst/>
              <a:ahLst/>
              <a:cxnLst/>
              <a:rect l="l" t="t" r="r" b="b"/>
              <a:pathLst>
                <a:path w="24379174" h="13713333">
                  <a:moveTo>
                    <a:pt x="0" y="0"/>
                  </a:moveTo>
                  <a:lnTo>
                    <a:pt x="24379174" y="0"/>
                  </a:lnTo>
                  <a:lnTo>
                    <a:pt x="24379174" y="13713333"/>
                  </a:lnTo>
                  <a:lnTo>
                    <a:pt x="0" y="13713333"/>
                  </a:lnTo>
                  <a:close/>
                </a:path>
              </a:pathLst>
            </a:custGeom>
            <a:blipFill>
              <a:blip r:embed="rId2">
                <a:alphaModFix amt="74902"/>
              </a:blip>
              <a:stretch>
                <a:fillRect l="-6250" r="-6250"/>
              </a:stretch>
            </a:blipFill>
          </p:spPr>
          <p:txBody>
            <a:bodyPr/>
            <a:lstStyle/>
            <a:p>
              <a:endParaRPr lang="en-US"/>
            </a:p>
          </p:txBody>
        </p:sp>
        <p:sp>
          <p:nvSpPr>
            <p:cNvPr id="4" name="Freeform 4"/>
            <p:cNvSpPr/>
            <p:nvPr/>
          </p:nvSpPr>
          <p:spPr>
            <a:xfrm>
              <a:off x="0" y="0"/>
              <a:ext cx="24398224" cy="13732383"/>
            </a:xfrm>
            <a:custGeom>
              <a:avLst/>
              <a:gdLst/>
              <a:ahLst/>
              <a:cxnLst/>
              <a:rect l="l" t="t" r="r" b="b"/>
              <a:pathLst>
                <a:path w="24398224" h="13732383">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txBody>
            <a:bodyPr/>
            <a:lstStyle/>
            <a:p>
              <a:endParaRPr lang="en-US"/>
            </a:p>
          </p:txBody>
        </p:sp>
      </p:grpSp>
      <p:grpSp>
        <p:nvGrpSpPr>
          <p:cNvPr id="5" name="Group 5"/>
          <p:cNvGrpSpPr/>
          <p:nvPr/>
        </p:nvGrpSpPr>
        <p:grpSpPr>
          <a:xfrm>
            <a:off x="985647" y="2757188"/>
            <a:ext cx="9940030" cy="2542678"/>
            <a:chOff x="0" y="0"/>
            <a:chExt cx="13253373" cy="3390238"/>
          </a:xfrm>
        </p:grpSpPr>
        <p:sp>
          <p:nvSpPr>
            <p:cNvPr id="6" name="Freeform 6"/>
            <p:cNvSpPr/>
            <p:nvPr/>
          </p:nvSpPr>
          <p:spPr>
            <a:xfrm>
              <a:off x="0" y="0"/>
              <a:ext cx="13253374" cy="3390236"/>
            </a:xfrm>
            <a:custGeom>
              <a:avLst/>
              <a:gdLst/>
              <a:ahLst/>
              <a:cxnLst/>
              <a:rect l="l" t="t" r="r" b="b"/>
              <a:pathLst>
                <a:path w="13253374" h="3390236">
                  <a:moveTo>
                    <a:pt x="0" y="0"/>
                  </a:moveTo>
                  <a:lnTo>
                    <a:pt x="13253374" y="0"/>
                  </a:lnTo>
                  <a:lnTo>
                    <a:pt x="13253374" y="3390236"/>
                  </a:lnTo>
                  <a:lnTo>
                    <a:pt x="0" y="3390236"/>
                  </a:lnTo>
                  <a:close/>
                </a:path>
              </a:pathLst>
            </a:custGeom>
            <a:blipFill>
              <a:blip r:embed="rId2">
                <a:alphaModFix amt="0"/>
              </a:blip>
              <a:stretch>
                <a:fillRect t="-47731" b="-47731"/>
              </a:stretch>
            </a:blipFill>
          </p:spPr>
          <p:txBody>
            <a:bodyPr/>
            <a:lstStyle/>
            <a:p>
              <a:endParaRPr lang="en-US"/>
            </a:p>
          </p:txBody>
        </p:sp>
        <p:sp>
          <p:nvSpPr>
            <p:cNvPr id="7" name="TextBox 7"/>
            <p:cNvSpPr txBox="1"/>
            <p:nvPr/>
          </p:nvSpPr>
          <p:spPr>
            <a:xfrm>
              <a:off x="0" y="28575"/>
              <a:ext cx="13253373" cy="3361663"/>
            </a:xfrm>
            <a:prstGeom prst="rect">
              <a:avLst/>
            </a:prstGeom>
          </p:spPr>
          <p:txBody>
            <a:bodyPr lIns="0" tIns="0" rIns="0" bIns="0" rtlCol="0" anchor="ctr"/>
            <a:lstStyle/>
            <a:p>
              <a:pPr algn="l">
                <a:lnSpc>
                  <a:spcPts val="6227"/>
                </a:lnSpc>
              </a:pPr>
              <a:r>
                <a:rPr lang="en-US" sz="5511">
                  <a:solidFill>
                    <a:srgbClr val="FFFFFF"/>
                  </a:solidFill>
                  <a:latin typeface="Montserrat"/>
                  <a:ea typeface="Montserrat"/>
                  <a:cs typeface="Montserrat"/>
                  <a:sym typeface="Montserrat"/>
                </a:rPr>
                <a:t>I</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630</Words>
  <Application>Microsoft Office PowerPoint</Application>
  <PresentationFormat>Custom</PresentationFormat>
  <Paragraphs>105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Poppins</vt:lpstr>
      <vt:lpstr>Poppins Bold</vt:lpstr>
      <vt:lpstr>Montserrat</vt:lpstr>
      <vt:lpstr>Calibri</vt:lpstr>
      <vt:lpstr>Ubuntu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draft</dc:title>
  <cp:lastModifiedBy>Ainsley Hoover</cp:lastModifiedBy>
  <cp:revision>2</cp:revision>
  <dcterms:created xsi:type="dcterms:W3CDTF">2006-08-16T00:00:00Z</dcterms:created>
  <dcterms:modified xsi:type="dcterms:W3CDTF">2026-01-09T16:10:41Z</dcterms:modified>
  <dc:identifier>DAG94WuR5R0</dc:identifier>
</cp:coreProperties>
</file>